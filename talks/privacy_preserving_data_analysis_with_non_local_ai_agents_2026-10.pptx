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6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_01_00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box_01_002"/>
          <p:cNvSpPr>
            <a:spLocks noGrp="1"/>
          </p:cNvSpPr>
          <p:nvPr/>
        </p:nvSpPr>
        <p:spPr>
          <a:xfrm>
            <a:off x="0" y="0"/>
            <a:ext cx="12191695" cy="4846320"/>
          </a:xfrm>
          <a:prstGeom prst="rect">
            <a:avLst/>
          </a:prstGeom>
          <a:solidFill>
            <a:srgbClr val="003A3E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box_01_003"/>
          <p:cNvSpPr>
            <a:spLocks noGrp="1"/>
          </p:cNvSpPr>
          <p:nvPr/>
        </p:nvSpPr>
        <p:spPr>
          <a:xfrm>
            <a:off x="0" y="4846320"/>
            <a:ext cx="12191695" cy="54864"/>
          </a:xfrm>
          <a:prstGeom prst="rect">
            <a:avLst/>
          </a:prstGeom>
          <a:solidFill>
            <a:srgbClr val="B6D438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1920240" cy="916825"/>
          </a:xfrm>
          <a:prstGeom prst="rect">
            <a:avLst/>
          </a:prstGeom>
        </p:spPr>
      </p:pic>
      <p:sp>
        <p:nvSpPr>
          <p:cNvPr id="6" name=" 5"/>
          <p:cNvSpPr>
            <a:spLocks noGrp="1"/>
          </p:cNvSpPr>
          <p:nvPr/>
        </p:nvSpPr>
        <p:spPr>
          <a:xfrm>
            <a:off x="261770" y="1831225"/>
            <a:ext cx="11930230" cy="960120"/>
          </a:xfrm>
        </p:spPr>
        <p:txBody>
          <a:bodyPr/>
          <a:lstStyle/>
          <a:p>
            <a:pPr mar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 u="none" strike="noStrike" cap="none" dirty="0">
                <a:solidFill>
                  <a:srgbClr val="FFFFFF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Privacy-preserving data analysis with non-local AI agents</a:t>
            </a:r>
          </a:p>
        </p:txBody>
      </p:sp>
      <p:sp>
        <p:nvSpPr>
          <p:cNvPr id="7" name=" 6"/>
          <p:cNvSpPr>
            <a:spLocks noGrp="1"/>
          </p:cNvSpPr>
          <p:nvPr/>
        </p:nvSpPr>
        <p:spPr>
          <a:xfrm>
            <a:off x="312869" y="2976372"/>
            <a:ext cx="11368735" cy="4572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 strike="noStrike" cap="none" dirty="0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  <a:sym typeface="Arial"/>
              </a:rPr>
              <a:t>Max Moldovan</a:t>
            </a:r>
          </a:p>
        </p:txBody>
      </p:sp>
      <p:sp>
        <p:nvSpPr>
          <p:cNvPr id="8" name=" 7"/>
          <p:cNvSpPr>
            <a:spLocks noGrp="1"/>
          </p:cNvSpPr>
          <p:nvPr/>
        </p:nvSpPr>
        <p:spPr>
          <a:xfrm>
            <a:off x="312869" y="3618599"/>
            <a:ext cx="11368735" cy="6858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AU" sz="1300" b="0" i="0" u="none" strike="noStrike" cap="none" dirty="0">
                <a:solidFill>
                  <a:srgbClr val="B9CFD1">
                    <a:alpha val="100000"/>
                  </a:srgbClr>
                </a:solidFill>
                <a:latin typeface="Arial"/>
                <a:cs typeface="Arial"/>
                <a:sym typeface="Arial"/>
              </a:rPr>
              <a:t>AAGI-AU, </a:t>
            </a:r>
            <a:r>
              <a:rPr sz="1300" b="0" i="0" u="none" strike="noStrike" cap="none" dirty="0">
                <a:solidFill>
                  <a:srgbClr val="B9CFD1">
                    <a:alpha val="100000"/>
                  </a:srgbClr>
                </a:solidFill>
                <a:latin typeface="Arial"/>
                <a:cs typeface="Arial"/>
                <a:sym typeface="Arial"/>
              </a:rPr>
              <a:t>Biometry Hub, School of Agriculture, Food and Wine, Adelaide University</a:t>
            </a:r>
          </a:p>
        </p:txBody>
      </p:sp>
      <p:pic>
        <p:nvPicPr>
          <p:cNvPr id="9" name="Picture 8"/>
          <p:cNvPicPr>
            <a:picLocks noGr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048" y="5257800"/>
            <a:ext cx="8229600" cy="12271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_02_004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348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box_02_005"/>
          <p:cNvSpPr>
            <a:spLocks noGrp="1"/>
          </p:cNvSpPr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A3E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box_02_006"/>
          <p:cNvSpPr>
            <a:spLocks noGrp="1"/>
          </p:cNvSpPr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B6D438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182880"/>
            <a:ext cx="1417320" cy="676705"/>
          </a:xfrm>
          <a:prstGeom prst="rect">
            <a:avLst/>
          </a:prstGeom>
        </p:spPr>
      </p:pic>
      <p:sp>
        <p:nvSpPr>
          <p:cNvPr id="6" name=" 5"/>
          <p:cNvSpPr>
            <a:spLocks noGrp="1"/>
          </p:cNvSpPr>
          <p:nvPr/>
        </p:nvSpPr>
        <p:spPr>
          <a:xfrm>
            <a:off x="411480" y="109728"/>
            <a:ext cx="9677095" cy="868680"/>
          </a:xfrm>
        </p:spPr>
        <p:txBody>
          <a:bodyPr/>
          <a:lstStyle/>
          <a:p>
            <a:pPr mar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 u="none" strike="noStrike" cap="none">
                <a:solidFill>
                  <a:srgbClr val="FFFFFF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An AI agent can now run the whole analysis, but only if it is given the data</a:t>
            </a:r>
          </a:p>
        </p:txBody>
      </p:sp>
      <p:sp>
        <p:nvSpPr>
          <p:cNvPr id="7" name=" 6"/>
          <p:cNvSpPr>
            <a:spLocks noGrp="1"/>
          </p:cNvSpPr>
          <p:nvPr/>
        </p:nvSpPr>
        <p:spPr>
          <a:xfrm>
            <a:off x="411480" y="6419088"/>
            <a:ext cx="10637215" cy="329184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B9CFD1">
                    <a:alpha val="100000"/>
                  </a:srgbClr>
                </a:solidFill>
                <a:latin typeface="Arial"/>
                <a:cs typeface="Arial"/>
                <a:sym typeface="Arial"/>
              </a:rPr>
              <a:t>Moldovan: privacy-preserving data analysis with non-local AI agents</a:t>
            </a:r>
          </a:p>
        </p:txBody>
      </p:sp>
      <p:sp>
        <p:nvSpPr>
          <p:cNvPr id="8" name=" 7"/>
          <p:cNvSpPr>
            <a:spLocks noGrp="1"/>
          </p:cNvSpPr>
          <p:nvPr/>
        </p:nvSpPr>
        <p:spPr>
          <a:xfrm>
            <a:off x="11140135" y="6419088"/>
            <a:ext cx="640080" cy="329184"/>
          </a:xfrm>
        </p:spPr>
        <p:txBody>
          <a:bodyPr/>
          <a:lstStyle/>
          <a:p>
            <a:pPr marL="0" marR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B9CFD1">
                    <a:alpha val="100000"/>
                  </a:srgbClr>
                </a:solidFill>
                <a:latin typeface="Arial"/>
                <a:cs typeface="Arial"/>
                <a:sym typeface="Arial"/>
              </a:rPr>
              <a:t>2</a:t>
            </a:r>
          </a:p>
        </p:txBody>
      </p:sp>
      <p:sp>
        <p:nvSpPr>
          <p:cNvPr id="9" name="box_02_007"/>
          <p:cNvSpPr>
            <a:spLocks noGrp="1"/>
          </p:cNvSpPr>
          <p:nvPr/>
        </p:nvSpPr>
        <p:spPr>
          <a:xfrm>
            <a:off x="411480" y="1371600"/>
            <a:ext cx="4846320" cy="201168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 9"/>
          <p:cNvSpPr>
            <a:spLocks noGrp="1"/>
          </p:cNvSpPr>
          <p:nvPr/>
        </p:nvSpPr>
        <p:spPr>
          <a:xfrm>
            <a:off x="594360" y="1481328"/>
            <a:ext cx="4480560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The data owner</a:t>
            </a:r>
          </a:p>
        </p:txBody>
      </p:sp>
      <p:sp>
        <p:nvSpPr>
          <p:cNvPr id="11" name=" 10"/>
          <p:cNvSpPr>
            <a:spLocks noGrp="1"/>
          </p:cNvSpPr>
          <p:nvPr/>
        </p:nvSpPr>
        <p:spPr>
          <a:xfrm>
            <a:off x="594360" y="1993392"/>
            <a:ext cx="4480560" cy="128016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A breeding programme, a trial network, a grower group. The data are held under licence or a confidentiality agreement.</a:t>
            </a:r>
          </a:p>
        </p:txBody>
      </p:sp>
      <p:sp>
        <p:nvSpPr>
          <p:cNvPr id="12" name="box_02_008"/>
          <p:cNvSpPr>
            <a:spLocks noGrp="1"/>
          </p:cNvSpPr>
          <p:nvPr/>
        </p:nvSpPr>
        <p:spPr>
          <a:xfrm>
            <a:off x="6933895" y="1371600"/>
            <a:ext cx="4846320" cy="201168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 12"/>
          <p:cNvSpPr>
            <a:spLocks noGrp="1"/>
          </p:cNvSpPr>
          <p:nvPr/>
        </p:nvSpPr>
        <p:spPr>
          <a:xfrm>
            <a:off x="7116775" y="1481328"/>
            <a:ext cx="4480560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An AI agent</a:t>
            </a:r>
          </a:p>
        </p:txBody>
      </p:sp>
      <p:sp>
        <p:nvSpPr>
          <p:cNvPr id="14" name=" 13"/>
          <p:cNvSpPr>
            <a:spLocks noGrp="1"/>
          </p:cNvSpPr>
          <p:nvPr/>
        </p:nvSpPr>
        <p:spPr>
          <a:xfrm>
            <a:off x="7116775" y="1993392"/>
            <a:ext cx="4480560" cy="128016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Loads the data, chooses the methods, runs them and writes the report, from a prompt or a few.</a:t>
            </a:r>
          </a:p>
        </p:txBody>
      </p:sp>
      <p:sp>
        <p:nvSpPr>
          <p:cNvPr id="15" name=" 14"/>
          <p:cNvSpPr>
            <a:spLocks noGrp="1"/>
          </p:cNvSpPr>
          <p:nvPr/>
        </p:nvSpPr>
        <p:spPr>
          <a:xfrm>
            <a:off x="5250027" y="1659636"/>
            <a:ext cx="1676095" cy="1280160"/>
          </a:xfrm>
        </p:spPr>
        <p:txBody>
          <a:bodyPr/>
          <a:lstStyle/>
          <a:p>
            <a:pPr marL="0" marR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strike="noStrike" cap="none" dirty="0">
                <a:solidFill>
                  <a:srgbClr val="B6D438">
                    <a:alpha val="100000"/>
                  </a:srgbClr>
                </a:solidFill>
                <a:latin typeface="Arial"/>
                <a:cs typeface="Arial"/>
                <a:sym typeface="Arial"/>
              </a:rPr>
              <a:t>→</a:t>
            </a:r>
          </a:p>
          <a:p>
            <a:pPr marL="0" marR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strike="noStrike" cap="none" dirty="0">
                <a:solidFill>
                  <a:srgbClr val="FFC000"/>
                </a:solidFill>
                <a:latin typeface="Arial"/>
                <a:cs typeface="Arial"/>
                <a:sym typeface="Arial"/>
              </a:rPr>
              <a:t>To do the</a:t>
            </a:r>
            <a:r>
              <a:rPr lang="en-AU" sz="1500" b="1" i="0" u="none" strike="noStrike" cap="none" dirty="0">
                <a:solidFill>
                  <a:srgbClr val="FFC000"/>
                </a:solidFill>
                <a:latin typeface="Arial"/>
                <a:cs typeface="Arial"/>
                <a:sym typeface="Arial"/>
              </a:rPr>
              <a:t> AI-assisted</a:t>
            </a:r>
            <a:r>
              <a:rPr sz="1500" b="1" i="0" u="none" strike="noStrike" cap="none" dirty="0">
                <a:solidFill>
                  <a:srgbClr val="FFC000"/>
                </a:solidFill>
                <a:latin typeface="Arial"/>
                <a:cs typeface="Arial"/>
                <a:sym typeface="Arial"/>
              </a:rPr>
              <a:t> analysis, </a:t>
            </a:r>
            <a:r>
              <a:rPr lang="en-AU" sz="1500" b="1" i="0" u="none" strike="noStrike" cap="none" dirty="0">
                <a:solidFill>
                  <a:srgbClr val="FFC000"/>
                </a:solidFill>
                <a:latin typeface="Arial"/>
                <a:cs typeface="Arial"/>
                <a:sym typeface="Arial"/>
              </a:rPr>
              <a:t> the data</a:t>
            </a:r>
            <a:r>
              <a:rPr sz="1500" b="1" i="0" u="none" strike="noStrike" cap="none" dirty="0">
                <a:solidFill>
                  <a:srgbClr val="FFC000"/>
                </a:solidFill>
                <a:latin typeface="Arial"/>
                <a:cs typeface="Arial"/>
                <a:sym typeface="Arial"/>
              </a:rPr>
              <a:t> must be </a:t>
            </a:r>
            <a:r>
              <a:rPr lang="en-AU" sz="1500" b="1" i="0" u="none" strike="noStrike" cap="none" dirty="0">
                <a:solidFill>
                  <a:srgbClr val="FFC000"/>
                </a:solidFill>
                <a:latin typeface="Arial"/>
                <a:cs typeface="Arial"/>
                <a:sym typeface="Arial"/>
              </a:rPr>
              <a:t>passed to AI</a:t>
            </a:r>
            <a:endParaRPr sz="1500" b="1" i="0" u="none" strike="noStrike" cap="none" dirty="0">
              <a:solidFill>
                <a:srgbClr val="FFC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" name="box_02_009"/>
          <p:cNvSpPr>
            <a:spLocks noGrp="1"/>
          </p:cNvSpPr>
          <p:nvPr/>
        </p:nvSpPr>
        <p:spPr>
          <a:xfrm>
            <a:off x="411480" y="3657600"/>
            <a:ext cx="3606698" cy="2606040"/>
          </a:xfrm>
          <a:prstGeom prst="roundRect">
            <a:avLst>
              <a:gd name="adj" fmla="val 3509"/>
            </a:avLst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box_02_010"/>
          <p:cNvSpPr>
            <a:spLocks noGrp="1"/>
          </p:cNvSpPr>
          <p:nvPr/>
        </p:nvSpPr>
        <p:spPr>
          <a:xfrm>
            <a:off x="411480" y="3822192"/>
            <a:ext cx="64008" cy="384048"/>
          </a:xfrm>
          <a:prstGeom prst="rect">
            <a:avLst/>
          </a:prstGeom>
          <a:solidFill>
            <a:srgbClr val="00808B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 17"/>
          <p:cNvSpPr>
            <a:spLocks noGrp="1"/>
          </p:cNvSpPr>
          <p:nvPr/>
        </p:nvSpPr>
        <p:spPr>
          <a:xfrm>
            <a:off x="612648" y="3767328"/>
            <a:ext cx="3240938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trike="noStrike" cap="none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1  Not reproducible</a:t>
            </a:r>
          </a:p>
        </p:txBody>
      </p:sp>
      <p:sp>
        <p:nvSpPr>
          <p:cNvPr id="19" name=" 18"/>
          <p:cNvSpPr>
            <a:spLocks noGrp="1"/>
          </p:cNvSpPr>
          <p:nvPr/>
        </p:nvSpPr>
        <p:spPr>
          <a:xfrm>
            <a:off x="612648" y="4297680"/>
            <a:ext cx="3240938" cy="1856232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Ask twice with the same data and the same request: different methods, different answers.</a:t>
            </a:r>
          </a:p>
        </p:txBody>
      </p:sp>
      <p:sp>
        <p:nvSpPr>
          <p:cNvPr id="20" name="box_02_011"/>
          <p:cNvSpPr>
            <a:spLocks noGrp="1"/>
          </p:cNvSpPr>
          <p:nvPr/>
        </p:nvSpPr>
        <p:spPr>
          <a:xfrm>
            <a:off x="4292498" y="3657600"/>
            <a:ext cx="3606698" cy="2606040"/>
          </a:xfrm>
          <a:prstGeom prst="roundRect">
            <a:avLst>
              <a:gd name="adj" fmla="val 3509"/>
            </a:avLst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box_02_012"/>
          <p:cNvSpPr>
            <a:spLocks noGrp="1"/>
          </p:cNvSpPr>
          <p:nvPr/>
        </p:nvSpPr>
        <p:spPr>
          <a:xfrm>
            <a:off x="4292498" y="3822192"/>
            <a:ext cx="64008" cy="384048"/>
          </a:xfrm>
          <a:prstGeom prst="rect">
            <a:avLst/>
          </a:prstGeom>
          <a:solidFill>
            <a:srgbClr val="00808B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 21"/>
          <p:cNvSpPr>
            <a:spLocks noGrp="1"/>
          </p:cNvSpPr>
          <p:nvPr/>
        </p:nvSpPr>
        <p:spPr>
          <a:xfrm>
            <a:off x="4493666" y="3767328"/>
            <a:ext cx="3240938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trike="noStrike" cap="none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2  Not traceable</a:t>
            </a:r>
          </a:p>
        </p:txBody>
      </p:sp>
      <p:sp>
        <p:nvSpPr>
          <p:cNvPr id="23" name=" 22"/>
          <p:cNvSpPr>
            <a:spLocks noGrp="1"/>
          </p:cNvSpPr>
          <p:nvPr/>
        </p:nvSpPr>
        <p:spPr>
          <a:xfrm>
            <a:off x="4493666" y="4297680"/>
            <a:ext cx="3240938" cy="1856232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You cannot tell whether a number came from the calculation or from the AI.</a:t>
            </a:r>
          </a:p>
        </p:txBody>
      </p:sp>
      <p:sp>
        <p:nvSpPr>
          <p:cNvPr id="24" name="box_02_013"/>
          <p:cNvSpPr>
            <a:spLocks noGrp="1"/>
          </p:cNvSpPr>
          <p:nvPr/>
        </p:nvSpPr>
        <p:spPr>
          <a:xfrm>
            <a:off x="8173517" y="3657600"/>
            <a:ext cx="3606698" cy="2606040"/>
          </a:xfrm>
          <a:prstGeom prst="roundRect">
            <a:avLst>
              <a:gd name="adj" fmla="val 3509"/>
            </a:avLst>
          </a:prstGeom>
          <a:solidFill>
            <a:srgbClr val="DAE99B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box_02_014"/>
          <p:cNvSpPr>
            <a:spLocks noGrp="1"/>
          </p:cNvSpPr>
          <p:nvPr/>
        </p:nvSpPr>
        <p:spPr>
          <a:xfrm>
            <a:off x="8173517" y="3822192"/>
            <a:ext cx="64008" cy="384048"/>
          </a:xfrm>
          <a:prstGeom prst="rect">
            <a:avLst/>
          </a:prstGeom>
          <a:solidFill>
            <a:srgbClr val="00808B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 25"/>
          <p:cNvSpPr>
            <a:spLocks noGrp="1"/>
          </p:cNvSpPr>
          <p:nvPr/>
        </p:nvSpPr>
        <p:spPr>
          <a:xfrm>
            <a:off x="8374685" y="3767328"/>
            <a:ext cx="3240938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trike="noStrike" cap="none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3  Data leave the owner</a:t>
            </a:r>
          </a:p>
        </p:txBody>
      </p:sp>
      <p:sp>
        <p:nvSpPr>
          <p:cNvPr id="27" name=" 26"/>
          <p:cNvSpPr>
            <a:spLocks noGrp="1"/>
          </p:cNvSpPr>
          <p:nvPr/>
        </p:nvSpPr>
        <p:spPr>
          <a:xfrm>
            <a:off x="8374685" y="4297680"/>
            <a:ext cx="3240938" cy="1856232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Your records go to an AI service run by another company.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_03_015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348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box_03_016"/>
          <p:cNvSpPr>
            <a:spLocks noGrp="1"/>
          </p:cNvSpPr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A3E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box_03_017"/>
          <p:cNvSpPr>
            <a:spLocks noGrp="1"/>
          </p:cNvSpPr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B6D438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182880"/>
            <a:ext cx="1417320" cy="676705"/>
          </a:xfrm>
          <a:prstGeom prst="rect">
            <a:avLst/>
          </a:prstGeom>
        </p:spPr>
      </p:pic>
      <p:sp>
        <p:nvSpPr>
          <p:cNvPr id="6" name=" 5"/>
          <p:cNvSpPr>
            <a:spLocks noGrp="1"/>
          </p:cNvSpPr>
          <p:nvPr/>
        </p:nvSpPr>
        <p:spPr>
          <a:xfrm>
            <a:off x="411480" y="109728"/>
            <a:ext cx="9677095" cy="868680"/>
          </a:xfrm>
        </p:spPr>
        <p:txBody>
          <a:bodyPr/>
          <a:lstStyle/>
          <a:p>
            <a:pPr mar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 u="none" strike="noStrike" cap="none">
                <a:solidFill>
                  <a:srgbClr val="FFFFFF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The AI needs the layout of the data, not the data itself</a:t>
            </a:r>
          </a:p>
        </p:txBody>
      </p:sp>
      <p:sp>
        <p:nvSpPr>
          <p:cNvPr id="7" name=" 6"/>
          <p:cNvSpPr>
            <a:spLocks noGrp="1"/>
          </p:cNvSpPr>
          <p:nvPr/>
        </p:nvSpPr>
        <p:spPr>
          <a:xfrm>
            <a:off x="411480" y="6419088"/>
            <a:ext cx="10637215" cy="329184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B9CFD1">
                    <a:alpha val="100000"/>
                  </a:srgbClr>
                </a:solidFill>
                <a:latin typeface="Arial"/>
                <a:cs typeface="Arial"/>
                <a:sym typeface="Arial"/>
              </a:rPr>
              <a:t>Moldovan: privacy-preserving data analysis with non-local AI agents</a:t>
            </a:r>
          </a:p>
        </p:txBody>
      </p:sp>
      <p:sp>
        <p:nvSpPr>
          <p:cNvPr id="8" name=" 7"/>
          <p:cNvSpPr>
            <a:spLocks noGrp="1"/>
          </p:cNvSpPr>
          <p:nvPr/>
        </p:nvSpPr>
        <p:spPr>
          <a:xfrm>
            <a:off x="11140135" y="6419088"/>
            <a:ext cx="640080" cy="329184"/>
          </a:xfrm>
        </p:spPr>
        <p:txBody>
          <a:bodyPr/>
          <a:lstStyle/>
          <a:p>
            <a:pPr marL="0" marR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B9CFD1">
                    <a:alpha val="100000"/>
                  </a:srgbClr>
                </a:solidFill>
                <a:latin typeface="Arial"/>
                <a:cs typeface="Arial"/>
                <a:sym typeface="Arial"/>
              </a:rPr>
              <a:t>3</a:t>
            </a:r>
          </a:p>
        </p:txBody>
      </p:sp>
      <p:sp>
        <p:nvSpPr>
          <p:cNvPr id="9" name="box_03_018"/>
          <p:cNvSpPr>
            <a:spLocks noGrp="1"/>
          </p:cNvSpPr>
          <p:nvPr/>
        </p:nvSpPr>
        <p:spPr>
          <a:xfrm>
            <a:off x="411480" y="1371600"/>
            <a:ext cx="6949440" cy="4919472"/>
          </a:xfrm>
          <a:prstGeom prst="roundRect">
            <a:avLst>
              <a:gd name="adj" fmla="val 1859"/>
            </a:avLst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 9"/>
          <p:cNvSpPr>
            <a:spLocks noGrp="1"/>
          </p:cNvSpPr>
          <p:nvPr/>
        </p:nvSpPr>
        <p:spPr>
          <a:xfrm>
            <a:off x="594360" y="1481328"/>
            <a:ext cx="6583680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The masked copy (the clone)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343858"/>
              </p:ext>
            </p:extLst>
          </p:nvPr>
        </p:nvGraphicFramePr>
        <p:xfrm>
          <a:off x="594360" y="2057400"/>
          <a:ext cx="6583680" cy="3073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sz="1500" b="1" i="0" u="none" strike="noStrike" cap="none" dirty="0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Columns, their types, levels and </a:t>
                      </a:r>
                      <a:r>
                        <a:rPr lang="en-AU" sz="1500" b="1" i="0" u="none" strike="noStrike" cap="none" dirty="0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missing values</a:t>
                      </a:r>
                      <a:endParaRPr sz="1500" b="1" i="0" u="none" strike="noStrike" cap="none" dirty="0">
                        <a:solidFill>
                          <a:srgbClr val="1D2023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101600" marB="1016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sz="1500" b="0" i="0" u="none" strike="noStrike" cap="none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same as the real data</a:t>
                      </a:r>
                    </a:p>
                  </a:txBody>
                  <a:tcPr marL="0" marR="0" marT="101600" marB="1016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sz="1500" b="1" i="0" u="none" strike="noStrike" cap="none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Trial design: sites, blocks, rates</a:t>
                      </a:r>
                    </a:p>
                  </a:txBody>
                  <a:tcPr marL="0" marR="0" marT="101600" marB="1016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sz="1500" b="0" i="0" u="none" strike="noStrike" cap="none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kept</a:t>
                      </a:r>
                    </a:p>
                  </a:txBody>
                  <a:tcPr marL="0" marR="0" marT="101600" marB="1016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sz="1500" b="1" i="0" u="none" strike="noStrike" cap="none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Covariates, e.g. rainfall, soil pH</a:t>
                      </a:r>
                    </a:p>
                  </a:txBody>
                  <a:tcPr marL="0" marR="0" marT="101600" marB="1016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sz="1500" b="0" i="0" u="none" strike="noStrike" cap="none" dirty="0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re-made: same spread and links to other columns, no real value</a:t>
                      </a:r>
                    </a:p>
                  </a:txBody>
                  <a:tcPr marL="0" marR="0" marT="101600" marB="1016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sz="1500" b="1" i="0" u="none" strike="noStrike" cap="none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Site coordinates</a:t>
                      </a:r>
                    </a:p>
                  </a:txBody>
                  <a:tcPr marL="0" marR="0" marT="101600" marB="1016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sz="1500" b="0" i="0" u="none" strike="noStrike" cap="none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each site moved 5 to 20 km, still on land</a:t>
                      </a:r>
                    </a:p>
                  </a:txBody>
                  <a:tcPr marL="0" marR="0" marT="101600" marB="1016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1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sz="1500" b="1" i="0" u="none" strike="noStrike" cap="none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Yield and other outcomes</a:t>
                      </a:r>
                    </a:p>
                  </a:txBody>
                  <a:tcPr marL="0" marR="0" marT="101600" marB="1016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AE99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sz="1500" b="0" i="0" u="none" strike="noStrike" cap="none" dirty="0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synthetic, checked for leaks before hand-over</a:t>
                      </a:r>
                    </a:p>
                  </a:txBody>
                  <a:tcPr marL="0" marR="0" marT="101600" marB="1016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AE99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 11"/>
          <p:cNvSpPr>
            <a:spLocks noGrp="1"/>
          </p:cNvSpPr>
          <p:nvPr/>
        </p:nvSpPr>
        <p:spPr>
          <a:xfrm>
            <a:off x="594360" y="5074920"/>
            <a:ext cx="6583680" cy="109728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Handed over once, with a project brief: the question, what each column means, and the background a consultant would be given.</a:t>
            </a:r>
          </a:p>
        </p:txBody>
      </p:sp>
      <p:sp>
        <p:nvSpPr>
          <p:cNvPr id="13" name="box_03_019"/>
          <p:cNvSpPr>
            <a:spLocks noGrp="1"/>
          </p:cNvSpPr>
          <p:nvPr/>
        </p:nvSpPr>
        <p:spPr>
          <a:xfrm>
            <a:off x="7635240" y="1371600"/>
            <a:ext cx="4144975" cy="4919472"/>
          </a:xfrm>
          <a:prstGeom prst="roundRect">
            <a:avLst>
              <a:gd name="adj" fmla="val 2206"/>
            </a:avLst>
          </a:prstGeom>
          <a:solidFill>
            <a:srgbClr val="DAE99B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 13"/>
          <p:cNvSpPr>
            <a:spLocks noGrp="1"/>
          </p:cNvSpPr>
          <p:nvPr/>
        </p:nvSpPr>
        <p:spPr>
          <a:xfrm>
            <a:off x="7818120" y="1481328"/>
            <a:ext cx="3779215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Rehearse on the copy</a:t>
            </a:r>
          </a:p>
        </p:txBody>
      </p:sp>
      <p:sp>
        <p:nvSpPr>
          <p:cNvPr id="15" name=" 14"/>
          <p:cNvSpPr>
            <a:spLocks noGrp="1"/>
          </p:cNvSpPr>
          <p:nvPr/>
        </p:nvSpPr>
        <p:spPr>
          <a:xfrm>
            <a:off x="7818120" y="1993392"/>
            <a:ext cx="3779215" cy="4187952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9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Add a known yield gain to the copy: the plan must find it.</a:t>
            </a:r>
          </a:p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9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Add none: the plan must find none.</a:t>
            </a:r>
          </a:p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Run as often as needed. No real record is touched.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_04_020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348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box_04_021"/>
          <p:cNvSpPr>
            <a:spLocks noGrp="1"/>
          </p:cNvSpPr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A3E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box_04_022"/>
          <p:cNvSpPr>
            <a:spLocks noGrp="1"/>
          </p:cNvSpPr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B6D438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182880"/>
            <a:ext cx="1417320" cy="676705"/>
          </a:xfrm>
          <a:prstGeom prst="rect">
            <a:avLst/>
          </a:prstGeom>
        </p:spPr>
      </p:pic>
      <p:sp>
        <p:nvSpPr>
          <p:cNvPr id="6" name=" 5"/>
          <p:cNvSpPr>
            <a:spLocks noGrp="1"/>
          </p:cNvSpPr>
          <p:nvPr/>
        </p:nvSpPr>
        <p:spPr>
          <a:xfrm>
            <a:off x="411480" y="109728"/>
            <a:ext cx="9677095" cy="868680"/>
          </a:xfrm>
        </p:spPr>
        <p:txBody>
          <a:bodyPr/>
          <a:lstStyle/>
          <a:p>
            <a:pPr mar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 u="none" strike="noStrike" cap="none">
                <a:solidFill>
                  <a:srgbClr val="FFFFFF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The conductor is the only crossing between the agent and the data</a:t>
            </a:r>
          </a:p>
        </p:txBody>
      </p:sp>
      <p:sp>
        <p:nvSpPr>
          <p:cNvPr id="7" name=" 6"/>
          <p:cNvSpPr>
            <a:spLocks noGrp="1"/>
          </p:cNvSpPr>
          <p:nvPr/>
        </p:nvSpPr>
        <p:spPr>
          <a:xfrm>
            <a:off x="411480" y="6419088"/>
            <a:ext cx="10637215" cy="329184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B9CFD1">
                    <a:alpha val="100000"/>
                  </a:srgbClr>
                </a:solidFill>
                <a:latin typeface="Arial"/>
                <a:cs typeface="Arial"/>
                <a:sym typeface="Arial"/>
              </a:rPr>
              <a:t>Moldovan: the conductor as a membrane between the agent and the data</a:t>
            </a:r>
          </a:p>
        </p:txBody>
      </p:sp>
      <p:sp>
        <p:nvSpPr>
          <p:cNvPr id="8" name=" 7"/>
          <p:cNvSpPr>
            <a:spLocks noGrp="1"/>
          </p:cNvSpPr>
          <p:nvPr/>
        </p:nvSpPr>
        <p:spPr>
          <a:xfrm>
            <a:off x="11140135" y="6419088"/>
            <a:ext cx="640080" cy="329184"/>
          </a:xfrm>
        </p:spPr>
        <p:txBody>
          <a:bodyPr/>
          <a:lstStyle/>
          <a:p>
            <a:pPr marL="0" marR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B9CFD1">
                    <a:alpha val="100000"/>
                  </a:srgbClr>
                </a:solidFill>
                <a:latin typeface="Arial"/>
                <a:cs typeface="Arial"/>
                <a:sym typeface="Arial"/>
              </a:rPr>
              <a:t>4</a:t>
            </a:r>
          </a:p>
        </p:txBody>
      </p:sp>
      <p:sp>
        <p:nvSpPr>
          <p:cNvPr id="9" name="box_04_023"/>
          <p:cNvSpPr>
            <a:spLocks noGrp="1"/>
          </p:cNvSpPr>
          <p:nvPr/>
        </p:nvSpPr>
        <p:spPr>
          <a:xfrm>
            <a:off x="411480" y="1371600"/>
            <a:ext cx="11368735" cy="4957468"/>
          </a:xfrm>
          <a:prstGeom prst="roundRect">
            <a:avLst>
              <a:gd name="adj" fmla="val 1844"/>
            </a:avLst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10" name="Picture 9"/>
          <p:cNvPicPr>
            <a:picLocks noGr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08760"/>
            <a:ext cx="11094415" cy="46831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_05_024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348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box_05_025"/>
          <p:cNvSpPr>
            <a:spLocks noGrp="1"/>
          </p:cNvSpPr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A3E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box_05_026"/>
          <p:cNvSpPr>
            <a:spLocks noGrp="1"/>
          </p:cNvSpPr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B6D438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182880"/>
            <a:ext cx="1417320" cy="676705"/>
          </a:xfrm>
          <a:prstGeom prst="rect">
            <a:avLst/>
          </a:prstGeom>
        </p:spPr>
      </p:pic>
      <p:sp>
        <p:nvSpPr>
          <p:cNvPr id="6" name=" 5"/>
          <p:cNvSpPr>
            <a:spLocks noGrp="1"/>
          </p:cNvSpPr>
          <p:nvPr/>
        </p:nvSpPr>
        <p:spPr>
          <a:xfrm>
            <a:off x="411480" y="109728"/>
            <a:ext cx="9677095" cy="868680"/>
          </a:xfrm>
        </p:spPr>
        <p:txBody>
          <a:bodyPr/>
          <a:lstStyle/>
          <a:p>
            <a:pPr mar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 u="none" strike="noStrike" cap="none" dirty="0">
                <a:solidFill>
                  <a:srgbClr val="FFFFFF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The agent writes a plan</a:t>
            </a:r>
            <a:r>
              <a:rPr lang="en-AU" sz="2500" b="0" i="0" u="none" strike="noStrike" cap="none" dirty="0">
                <a:solidFill>
                  <a:srgbClr val="FFFFFF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,</a:t>
            </a:r>
            <a:r>
              <a:rPr lang="en-AU" sz="2500" dirty="0">
                <a:solidFill>
                  <a:srgbClr val="FFFFFF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 </a:t>
            </a:r>
            <a:r>
              <a:rPr sz="2500" b="0" i="0" u="none" strike="noStrike" cap="none" dirty="0">
                <a:solidFill>
                  <a:srgbClr val="FFFFFF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and the conductor keeps the record</a:t>
            </a:r>
          </a:p>
        </p:txBody>
      </p:sp>
      <p:sp>
        <p:nvSpPr>
          <p:cNvPr id="7" name=" 6"/>
          <p:cNvSpPr>
            <a:spLocks noGrp="1"/>
          </p:cNvSpPr>
          <p:nvPr/>
        </p:nvSpPr>
        <p:spPr>
          <a:xfrm>
            <a:off x="411480" y="6419088"/>
            <a:ext cx="10637215" cy="329184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B9CFD1">
                    <a:alpha val="100000"/>
                  </a:srgbClr>
                </a:solidFill>
                <a:latin typeface="Arial"/>
                <a:cs typeface="Arial"/>
                <a:sym typeface="Arial"/>
              </a:rPr>
              <a:t>Moldovan: privacy-preserving data analysis with non-local AI agents</a:t>
            </a:r>
          </a:p>
        </p:txBody>
      </p:sp>
      <p:sp>
        <p:nvSpPr>
          <p:cNvPr id="8" name=" 7"/>
          <p:cNvSpPr>
            <a:spLocks noGrp="1"/>
          </p:cNvSpPr>
          <p:nvPr/>
        </p:nvSpPr>
        <p:spPr>
          <a:xfrm>
            <a:off x="11140135" y="6419088"/>
            <a:ext cx="640080" cy="329184"/>
          </a:xfrm>
        </p:spPr>
        <p:txBody>
          <a:bodyPr/>
          <a:lstStyle/>
          <a:p>
            <a:pPr marL="0" marR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B9CFD1">
                    <a:alpha val="100000"/>
                  </a:srgbClr>
                </a:solidFill>
                <a:latin typeface="Arial"/>
                <a:cs typeface="Arial"/>
                <a:sym typeface="Arial"/>
              </a:rPr>
              <a:t>5</a:t>
            </a:r>
          </a:p>
        </p:txBody>
      </p:sp>
      <p:sp>
        <p:nvSpPr>
          <p:cNvPr id="9" name="box_05_027"/>
          <p:cNvSpPr>
            <a:spLocks noGrp="1"/>
          </p:cNvSpPr>
          <p:nvPr/>
        </p:nvSpPr>
        <p:spPr>
          <a:xfrm>
            <a:off x="411480" y="1371600"/>
            <a:ext cx="2636444" cy="2331720"/>
          </a:xfrm>
          <a:prstGeom prst="roundRect">
            <a:avLst>
              <a:gd name="adj" fmla="val 3922"/>
            </a:avLst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box_05_028"/>
          <p:cNvSpPr>
            <a:spLocks noGrp="1"/>
          </p:cNvSpPr>
          <p:nvPr/>
        </p:nvSpPr>
        <p:spPr>
          <a:xfrm>
            <a:off x="411480" y="1536192"/>
            <a:ext cx="64008" cy="384048"/>
          </a:xfrm>
          <a:prstGeom prst="rect">
            <a:avLst/>
          </a:prstGeom>
          <a:solidFill>
            <a:srgbClr val="00808B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 10"/>
          <p:cNvSpPr>
            <a:spLocks noGrp="1"/>
          </p:cNvSpPr>
          <p:nvPr/>
        </p:nvSpPr>
        <p:spPr>
          <a:xfrm>
            <a:off x="612648" y="1481328"/>
            <a:ext cx="2270684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trike="noStrike" cap="none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1  Compose</a:t>
            </a:r>
          </a:p>
        </p:txBody>
      </p:sp>
      <p:sp>
        <p:nvSpPr>
          <p:cNvPr id="12" name=" 11"/>
          <p:cNvSpPr>
            <a:spLocks noGrp="1"/>
          </p:cNvSpPr>
          <p:nvPr/>
        </p:nvSpPr>
        <p:spPr>
          <a:xfrm>
            <a:off x="612648" y="2011680"/>
            <a:ext cx="2270684" cy="1581912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The AI writes a plan: a list of steps, each calling a tested function from an approved R package.</a:t>
            </a:r>
          </a:p>
        </p:txBody>
      </p:sp>
      <p:sp>
        <p:nvSpPr>
          <p:cNvPr id="13" name="box_05_029"/>
          <p:cNvSpPr>
            <a:spLocks noGrp="1"/>
          </p:cNvSpPr>
          <p:nvPr/>
        </p:nvSpPr>
        <p:spPr>
          <a:xfrm>
            <a:off x="3322244" y="1371600"/>
            <a:ext cx="2636444" cy="2331720"/>
          </a:xfrm>
          <a:prstGeom prst="roundRect">
            <a:avLst>
              <a:gd name="adj" fmla="val 3922"/>
            </a:avLst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box_05_030"/>
          <p:cNvSpPr>
            <a:spLocks noGrp="1"/>
          </p:cNvSpPr>
          <p:nvPr/>
        </p:nvSpPr>
        <p:spPr>
          <a:xfrm>
            <a:off x="3322244" y="1536192"/>
            <a:ext cx="64008" cy="384048"/>
          </a:xfrm>
          <a:prstGeom prst="rect">
            <a:avLst/>
          </a:prstGeom>
          <a:solidFill>
            <a:srgbClr val="00808B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 14"/>
          <p:cNvSpPr>
            <a:spLocks noGrp="1"/>
          </p:cNvSpPr>
          <p:nvPr/>
        </p:nvSpPr>
        <p:spPr>
          <a:xfrm>
            <a:off x="3523412" y="1481328"/>
            <a:ext cx="2270684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trike="noStrike" cap="none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2  Seal</a:t>
            </a:r>
          </a:p>
        </p:txBody>
      </p:sp>
      <p:sp>
        <p:nvSpPr>
          <p:cNvPr id="16" name=" 15"/>
          <p:cNvSpPr>
            <a:spLocks noGrp="1"/>
          </p:cNvSpPr>
          <p:nvPr/>
        </p:nvSpPr>
        <p:spPr>
          <a:xfrm>
            <a:off x="3523412" y="2011680"/>
            <a:ext cx="2270684" cy="1581912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All rules and settings are fixed before the real data are touched. A person can check the plan.</a:t>
            </a:r>
          </a:p>
        </p:txBody>
      </p:sp>
      <p:sp>
        <p:nvSpPr>
          <p:cNvPr id="17" name="box_05_031"/>
          <p:cNvSpPr>
            <a:spLocks noGrp="1"/>
          </p:cNvSpPr>
          <p:nvPr/>
        </p:nvSpPr>
        <p:spPr>
          <a:xfrm>
            <a:off x="6233008" y="1371600"/>
            <a:ext cx="2636444" cy="2331720"/>
          </a:xfrm>
          <a:prstGeom prst="roundRect">
            <a:avLst>
              <a:gd name="adj" fmla="val 3922"/>
            </a:avLst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box_05_032"/>
          <p:cNvSpPr>
            <a:spLocks noGrp="1"/>
          </p:cNvSpPr>
          <p:nvPr/>
        </p:nvSpPr>
        <p:spPr>
          <a:xfrm>
            <a:off x="6233008" y="1536192"/>
            <a:ext cx="64008" cy="384048"/>
          </a:xfrm>
          <a:prstGeom prst="rect">
            <a:avLst/>
          </a:prstGeom>
          <a:solidFill>
            <a:srgbClr val="00808B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 18"/>
          <p:cNvSpPr>
            <a:spLocks noGrp="1"/>
          </p:cNvSpPr>
          <p:nvPr/>
        </p:nvSpPr>
        <p:spPr>
          <a:xfrm>
            <a:off x="6434176" y="1481328"/>
            <a:ext cx="2270684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trike="noStrike" cap="none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3  Run</a:t>
            </a:r>
          </a:p>
        </p:txBody>
      </p:sp>
      <p:sp>
        <p:nvSpPr>
          <p:cNvPr id="20" name=" 19"/>
          <p:cNvSpPr>
            <a:spLocks noGrp="1"/>
          </p:cNvSpPr>
          <p:nvPr/>
        </p:nvSpPr>
        <p:spPr>
          <a:xfrm>
            <a:off x="6434176" y="2011680"/>
            <a:ext cx="2270684" cy="1581912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conductoR reads the plan and calls those functions on the real data. No new code. Every call is logged.</a:t>
            </a:r>
          </a:p>
        </p:txBody>
      </p:sp>
      <p:sp>
        <p:nvSpPr>
          <p:cNvPr id="21" name="box_05_033"/>
          <p:cNvSpPr>
            <a:spLocks noGrp="1"/>
          </p:cNvSpPr>
          <p:nvPr/>
        </p:nvSpPr>
        <p:spPr>
          <a:xfrm>
            <a:off x="9143771" y="1371600"/>
            <a:ext cx="2636444" cy="2331720"/>
          </a:xfrm>
          <a:prstGeom prst="roundRect">
            <a:avLst>
              <a:gd name="adj" fmla="val 3922"/>
            </a:avLst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box_05_034"/>
          <p:cNvSpPr>
            <a:spLocks noGrp="1"/>
          </p:cNvSpPr>
          <p:nvPr/>
        </p:nvSpPr>
        <p:spPr>
          <a:xfrm>
            <a:off x="9143771" y="1536192"/>
            <a:ext cx="64008" cy="384048"/>
          </a:xfrm>
          <a:prstGeom prst="rect">
            <a:avLst/>
          </a:prstGeom>
          <a:solidFill>
            <a:srgbClr val="00808B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 22"/>
          <p:cNvSpPr>
            <a:spLocks noGrp="1"/>
          </p:cNvSpPr>
          <p:nvPr/>
        </p:nvSpPr>
        <p:spPr>
          <a:xfrm>
            <a:off x="9344939" y="1481328"/>
            <a:ext cx="2270684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trike="noStrike" cap="none" dirty="0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4  </a:t>
            </a:r>
            <a:r>
              <a:rPr lang="en-AU" sz="1900" b="1" i="0" u="none" strike="noStrike" cap="none" dirty="0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Loop/return</a:t>
            </a:r>
            <a:endParaRPr sz="1900" b="1" i="0" u="none" strike="noStrike" cap="none" dirty="0">
              <a:solidFill>
                <a:srgbClr val="00646D">
                  <a:alpha val="100000"/>
                </a:srgbClr>
              </a:solidFill>
              <a:latin typeface="Georgia"/>
              <a:cs typeface="Georgia"/>
              <a:sym typeface="Georgia"/>
            </a:endParaRPr>
          </a:p>
        </p:txBody>
      </p:sp>
      <p:sp>
        <p:nvSpPr>
          <p:cNvPr id="24" name=" 23"/>
          <p:cNvSpPr>
            <a:spLocks noGrp="1"/>
          </p:cNvSpPr>
          <p:nvPr/>
        </p:nvSpPr>
        <p:spPr>
          <a:xfrm>
            <a:off x="9344939" y="2011680"/>
            <a:ext cx="2270684" cy="1581912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700" b="0" i="0" u="none" strike="noStrike" cap="none" dirty="0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The results are either released or certain summaries returned back to the AI agent</a:t>
            </a:r>
            <a:r>
              <a:rPr sz="1700" b="0" i="0" u="none" strike="noStrike" cap="none" dirty="0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.</a:t>
            </a:r>
          </a:p>
        </p:txBody>
      </p:sp>
      <p:sp>
        <p:nvSpPr>
          <p:cNvPr id="25" name="box_05_035"/>
          <p:cNvSpPr>
            <a:spLocks noGrp="1"/>
          </p:cNvSpPr>
          <p:nvPr/>
        </p:nvSpPr>
        <p:spPr>
          <a:xfrm>
            <a:off x="411480" y="3931920"/>
            <a:ext cx="11368735" cy="1600200"/>
          </a:xfrm>
          <a:prstGeom prst="roundRect">
            <a:avLst>
              <a:gd name="adj" fmla="val 5714"/>
            </a:avLst>
          </a:prstGeom>
          <a:solidFill>
            <a:srgbClr val="DAE99B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 25"/>
          <p:cNvSpPr>
            <a:spLocks noGrp="1"/>
          </p:cNvSpPr>
          <p:nvPr/>
        </p:nvSpPr>
        <p:spPr>
          <a:xfrm>
            <a:off x="640080" y="4069080"/>
            <a:ext cx="10911535" cy="13716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2000" b="0" i="0" u="none" strike="noStrike" cap="none" dirty="0">
                <a:solidFill>
                  <a:srgbClr val="1D2023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Run the same plan on the same data again, and you get the same numbers.</a:t>
            </a:r>
          </a:p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strike="noStrike" cap="none" dirty="0">
                <a:solidFill>
                  <a:srgbClr val="1D2023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Every number in the report can be traced to the step that produced it. Anomalies are flagged.</a:t>
            </a:r>
          </a:p>
        </p:txBody>
      </p:sp>
      <p:sp>
        <p:nvSpPr>
          <p:cNvPr id="27" name=" 26"/>
          <p:cNvSpPr>
            <a:spLocks noGrp="1"/>
          </p:cNvSpPr>
          <p:nvPr/>
        </p:nvSpPr>
        <p:spPr>
          <a:xfrm>
            <a:off x="411480" y="5715000"/>
            <a:ext cx="11368735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strike="noStrike" cap="none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  <a:sym typeface="Arial"/>
              </a:rPr>
              <a:t>Built and running: conductoR and the Crop Analytics Orchestra, open-source R packages at github.com/max578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_06_036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348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box_06_037"/>
          <p:cNvSpPr>
            <a:spLocks noGrp="1"/>
          </p:cNvSpPr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A3E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box_06_038"/>
          <p:cNvSpPr>
            <a:spLocks noGrp="1"/>
          </p:cNvSpPr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B6D438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182880"/>
            <a:ext cx="1417320" cy="676705"/>
          </a:xfrm>
          <a:prstGeom prst="rect">
            <a:avLst/>
          </a:prstGeom>
        </p:spPr>
      </p:pic>
      <p:sp>
        <p:nvSpPr>
          <p:cNvPr id="6" name=" 5"/>
          <p:cNvSpPr>
            <a:spLocks noGrp="1"/>
          </p:cNvSpPr>
          <p:nvPr/>
        </p:nvSpPr>
        <p:spPr>
          <a:xfrm>
            <a:off x="411480" y="109728"/>
            <a:ext cx="9677095" cy="868680"/>
          </a:xfrm>
        </p:spPr>
        <p:txBody>
          <a:bodyPr/>
          <a:lstStyle/>
          <a:p>
            <a:pPr mar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 u="none" strike="noStrike" cap="none">
                <a:solidFill>
                  <a:srgbClr val="FFFFFF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The data owner decides how much comes back to the AI, in doses</a:t>
            </a:r>
          </a:p>
        </p:txBody>
      </p:sp>
      <p:sp>
        <p:nvSpPr>
          <p:cNvPr id="7" name=" 6"/>
          <p:cNvSpPr>
            <a:spLocks noGrp="1"/>
          </p:cNvSpPr>
          <p:nvPr/>
        </p:nvSpPr>
        <p:spPr>
          <a:xfrm>
            <a:off x="411480" y="6419088"/>
            <a:ext cx="10637215" cy="329184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B9CFD1">
                    <a:alpha val="100000"/>
                  </a:srgbClr>
                </a:solidFill>
                <a:latin typeface="Arial"/>
                <a:cs typeface="Arial"/>
                <a:sym typeface="Arial"/>
              </a:rPr>
              <a:t>Moldovan: what returns to the agent through the conductor</a:t>
            </a:r>
          </a:p>
        </p:txBody>
      </p:sp>
      <p:sp>
        <p:nvSpPr>
          <p:cNvPr id="8" name=" 7"/>
          <p:cNvSpPr>
            <a:spLocks noGrp="1"/>
          </p:cNvSpPr>
          <p:nvPr/>
        </p:nvSpPr>
        <p:spPr>
          <a:xfrm>
            <a:off x="11140135" y="6419088"/>
            <a:ext cx="640080" cy="329184"/>
          </a:xfrm>
        </p:spPr>
        <p:txBody>
          <a:bodyPr/>
          <a:lstStyle/>
          <a:p>
            <a:pPr marL="0" marR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B9CFD1">
                    <a:alpha val="100000"/>
                  </a:srgbClr>
                </a:solidFill>
                <a:latin typeface="Arial"/>
                <a:cs typeface="Arial"/>
                <a:sym typeface="Arial"/>
              </a:rPr>
              <a:t>6</a:t>
            </a:r>
          </a:p>
        </p:txBody>
      </p:sp>
      <p:sp>
        <p:nvSpPr>
          <p:cNvPr id="9" name="box_06_039"/>
          <p:cNvSpPr>
            <a:spLocks noGrp="1"/>
          </p:cNvSpPr>
          <p:nvPr/>
        </p:nvSpPr>
        <p:spPr>
          <a:xfrm>
            <a:off x="411480" y="1371600"/>
            <a:ext cx="11368735" cy="4919472"/>
          </a:xfrm>
          <a:prstGeom prst="roundRect">
            <a:avLst>
              <a:gd name="adj" fmla="val 1859"/>
            </a:avLst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239319"/>
              </p:ext>
            </p:extLst>
          </p:nvPr>
        </p:nvGraphicFramePr>
        <p:xfrm>
          <a:off x="649224" y="1572768"/>
          <a:ext cx="10881360" cy="348488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101600" marR="10160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Dose</a:t>
                      </a:r>
                    </a:p>
                  </a:txBody>
                  <a:tcPr marL="0" marR="0" marT="50800" marB="50800" anchor="ctr">
                    <a:lnL w="0" cap="flat" cmpd="sng" algn="ctr">
                      <a:noFill/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016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400" b="1" i="0" u="none" strike="noStrik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What comes back to the AI</a:t>
                      </a:r>
                    </a:p>
                  </a:txBody>
                  <a:tcPr marL="0" marR="0" marT="50800" marB="50800" anchor="ctr">
                    <a:lnL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016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400" b="1" i="0" u="none" strike="noStrik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When the owner allows it</a:t>
                      </a:r>
                    </a:p>
                  </a:txBody>
                  <a:tcPr marL="0" marR="0" marT="50800" marB="50800" anchor="ctr">
                    <a:lnL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101600" marR="10160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2000" b="1" i="0" u="none" strike="noStrike" cap="none">
                          <a:solidFill>
                            <a:srgbClr val="00646D">
                              <a:alpha val="100000"/>
                            </a:srgbClr>
                          </a:solidFill>
                          <a:latin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0" marR="0" marT="50800" marB="50800" anchor="ctr">
                    <a:lnL w="0" cap="flat" cmpd="sng" algn="ctr">
                      <a:noFill/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AE99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016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A log of the run: which steps ran, which stopped and why, which checks passed</a:t>
                      </a:r>
                    </a:p>
                  </a:txBody>
                  <a:tcPr marL="0" marR="0" marT="50800" marB="50800" anchor="ctr">
                    <a:lnL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AE99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016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400" b="0" i="0" u="none" strike="noStrike" cap="none" dirty="0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Always. It holds no data values</a:t>
                      </a:r>
                    </a:p>
                  </a:txBody>
                  <a:tcPr marL="0" marR="0" marT="50800" marB="50800" anchor="ctr">
                    <a:lnL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AE99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101600" marR="10160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2000" b="1" i="0" u="none" strike="noStrike" cap="none">
                          <a:solidFill>
                            <a:srgbClr val="00646D">
                              <a:alpha val="100000"/>
                            </a:srgbClr>
                          </a:solidFill>
                          <a:latin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0" marR="0" marT="50800" marB="50800" anchor="ctr">
                    <a:lnL w="0" cap="flat" cmpd="sng" algn="ctr">
                      <a:noFill/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016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Model results: estimates, their uncertainty and how well the model fits</a:t>
                      </a:r>
                    </a:p>
                  </a:txBody>
                  <a:tcPr marL="0" marR="0" marT="50800" marB="50800" anchor="ctr">
                    <a:lnL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016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400" b="0" i="0" u="none" strike="noStrike" cap="none" dirty="0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When the owner would publish the answer anyway</a:t>
                      </a:r>
                    </a:p>
                  </a:txBody>
                  <a:tcPr marL="0" marR="0" marT="50800" marB="50800" anchor="ctr">
                    <a:lnL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101600" marR="10160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2000" b="1" i="0" u="none" strike="noStrike" cap="none">
                          <a:solidFill>
                            <a:srgbClr val="00646D">
                              <a:alpha val="100000"/>
                            </a:srgbClr>
                          </a:solidFill>
                          <a:latin typeface="Georgia"/>
                          <a:cs typeface="Georgia"/>
                          <a:sym typeface="Georgia"/>
                        </a:rPr>
                        <a:t>2</a:t>
                      </a:r>
                    </a:p>
                  </a:txBody>
                  <a:tcPr marL="0" marR="0" marT="50800" marB="50800" anchor="ctr">
                    <a:lnL w="0" cap="flat" cmpd="sng" algn="ctr">
                      <a:noFill/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016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Summaries by group: counts, averages, spread. Small groups, and groups one farm dominates, are held back</a:t>
                      </a:r>
                    </a:p>
                  </a:txBody>
                  <a:tcPr marL="0" marR="0" marT="50800" marB="50800" anchor="ctr">
                    <a:lnL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016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400" b="0" i="0" u="none" strike="noStrike" cap="none" dirty="0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When the plan must adjust to how the real trial was laid out, or how its yields vary</a:t>
                      </a:r>
                    </a:p>
                  </a:txBody>
                  <a:tcPr marL="0" marR="0" marT="50800" marB="50800" anchor="ctr">
                    <a:lnL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101600" marR="10160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2000" b="1" i="0" u="none" strike="noStrike" cap="none">
                          <a:solidFill>
                            <a:srgbClr val="00646D">
                              <a:alpha val="100000"/>
                            </a:srgbClr>
                          </a:solidFill>
                          <a:latin typeface="Georgia"/>
                          <a:cs typeface="Georgia"/>
                          <a:sym typeface="Georgia"/>
                        </a:rPr>
                        <a:t>3</a:t>
                      </a:r>
                    </a:p>
                  </a:txBody>
                  <a:tcPr marL="0" marR="0" marT="50800" marB="50800" anchor="ctr">
                    <a:lnL w="0" cap="flat" cmpd="sng" algn="ctr">
                      <a:noFill/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016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Detailed checks of the model fit, group by group, each reviewed by the owner</a:t>
                      </a:r>
                    </a:p>
                  </a:txBody>
                  <a:tcPr marL="0" marR="0" marT="50800" marB="50800" anchor="ctr">
                    <a:lnL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016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400" b="0" i="0" u="none" strike="noStrike" cap="none" dirty="0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When the plan failed on something the copy did not show, with the owner's analyst</a:t>
                      </a:r>
                    </a:p>
                  </a:txBody>
                  <a:tcPr marL="0" marR="0" marT="50800" marB="50800" anchor="ctr">
                    <a:lnL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101600" marR="10160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2000" b="1" i="0" u="none" strike="noStrike" cap="none">
                          <a:solidFill>
                            <a:srgbClr val="00646D">
                              <a:alpha val="100000"/>
                            </a:srgbClr>
                          </a:solidFill>
                          <a:latin typeface="Georgia"/>
                          <a:cs typeface="Georgia"/>
                          <a:sym typeface="Georgia"/>
                        </a:rPr>
                        <a:t>4</a:t>
                      </a:r>
                    </a:p>
                  </a:txBody>
                  <a:tcPr marL="0" marR="0" marT="50800" marB="50800" anchor="ctr">
                    <a:lnL w="0" cap="flat" cmpd="sng" algn="ctr">
                      <a:noFill/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016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400" b="0" i="0" u="none" strike="noStrike" cap="none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Checks of cause and effect, and of the shape of the data</a:t>
                      </a:r>
                    </a:p>
                  </a:txBody>
                  <a:tcPr marL="0" marR="0" marT="50800" marB="50800" anchor="ctr">
                    <a:lnL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016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400" b="0" i="0" u="none" strike="noStrike" cap="none" dirty="0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When those assumptions must be checked on the real data, with the owner's analyst</a:t>
                      </a:r>
                    </a:p>
                  </a:txBody>
                  <a:tcPr marL="0" marR="0" marT="50800" marB="50800" anchor="ctr">
                    <a:lnL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101600" marR="10160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2000" b="1" i="0" u="none" strike="noStrike" cap="none">
                          <a:solidFill>
                            <a:srgbClr val="00646D">
                              <a:alpha val="100000"/>
                            </a:srgbClr>
                          </a:solidFill>
                          <a:latin typeface="Georgia"/>
                          <a:cs typeface="Georgia"/>
                          <a:sym typeface="Georgia"/>
                        </a:rPr>
                        <a:t>5</a:t>
                      </a:r>
                    </a:p>
                  </a:txBody>
                  <a:tcPr marL="0" marR="0" marT="50800" marB="50800" anchor="ctr">
                    <a:lnL w="0" cap="flat" cmpd="sng" algn="ctr">
                      <a:noFill/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016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400" b="0" i="0" u="none" strike="noStrike" cap="none" dirty="0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The data themselves</a:t>
                      </a:r>
                    </a:p>
                  </a:txBody>
                  <a:tcPr marL="0" marR="0" marT="50800" marB="50800" anchor="ctr">
                    <a:lnL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0160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400" b="0" i="0" u="none" strike="noStrike" cap="none" dirty="0">
                          <a:solidFill>
                            <a:srgbClr val="1D2023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Only for public data, or when the AI runs on the owner's own computers</a:t>
                      </a:r>
                    </a:p>
                  </a:txBody>
                  <a:tcPr marL="0" marR="0" marT="50800" marB="50800" anchor="ctr">
                    <a:lnL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8F1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 10"/>
          <p:cNvSpPr>
            <a:spLocks noGrp="1"/>
          </p:cNvSpPr>
          <p:nvPr/>
        </p:nvSpPr>
        <p:spPr>
          <a:xfrm>
            <a:off x="649224" y="5605272"/>
            <a:ext cx="10881360" cy="64008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5054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Each dose includes everything below it. Doses 1 to 4 are checked for privacy before they go back. What comes back only helps the AI fix its plan. The published result is a separate, checked release at the 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_07_040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348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box_07_041"/>
          <p:cNvSpPr>
            <a:spLocks noGrp="1"/>
          </p:cNvSpPr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A3E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box_07_042"/>
          <p:cNvSpPr>
            <a:spLocks noGrp="1"/>
          </p:cNvSpPr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B6D438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182880"/>
            <a:ext cx="1417320" cy="676705"/>
          </a:xfrm>
          <a:prstGeom prst="rect">
            <a:avLst/>
          </a:prstGeom>
        </p:spPr>
      </p:pic>
      <p:sp>
        <p:nvSpPr>
          <p:cNvPr id="6" name=" 5"/>
          <p:cNvSpPr>
            <a:spLocks noGrp="1"/>
          </p:cNvSpPr>
          <p:nvPr/>
        </p:nvSpPr>
        <p:spPr>
          <a:xfrm>
            <a:off x="411480" y="109728"/>
            <a:ext cx="9677095" cy="868680"/>
          </a:xfrm>
        </p:spPr>
        <p:txBody>
          <a:bodyPr/>
          <a:lstStyle/>
          <a:p>
            <a:pPr mar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 u="none" strike="noStrike" cap="none">
                <a:solidFill>
                  <a:srgbClr val="FFFFFF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One loop on a nitrogen-rate trial: the AI never sees a real yield</a:t>
            </a:r>
          </a:p>
        </p:txBody>
      </p:sp>
      <p:sp>
        <p:nvSpPr>
          <p:cNvPr id="7" name=" 6"/>
          <p:cNvSpPr>
            <a:spLocks noGrp="1"/>
          </p:cNvSpPr>
          <p:nvPr/>
        </p:nvSpPr>
        <p:spPr>
          <a:xfrm>
            <a:off x="411480" y="6419088"/>
            <a:ext cx="10637215" cy="329184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B9CFD1">
                    <a:alpha val="100000"/>
                  </a:srgbClr>
                </a:solidFill>
                <a:latin typeface="Arial"/>
                <a:cs typeface="Arial"/>
                <a:sym typeface="Arial"/>
              </a:rPr>
              <a:t>Moldovan: one loop, step by step</a:t>
            </a:r>
          </a:p>
        </p:txBody>
      </p:sp>
      <p:sp>
        <p:nvSpPr>
          <p:cNvPr id="8" name=" 7"/>
          <p:cNvSpPr>
            <a:spLocks noGrp="1"/>
          </p:cNvSpPr>
          <p:nvPr/>
        </p:nvSpPr>
        <p:spPr>
          <a:xfrm>
            <a:off x="11140135" y="6419088"/>
            <a:ext cx="640080" cy="329184"/>
          </a:xfrm>
        </p:spPr>
        <p:txBody>
          <a:bodyPr/>
          <a:lstStyle/>
          <a:p>
            <a:pPr marL="0" marR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B9CFD1">
                    <a:alpha val="100000"/>
                  </a:srgbClr>
                </a:solidFill>
                <a:latin typeface="Arial"/>
                <a:cs typeface="Arial"/>
                <a:sym typeface="Arial"/>
              </a:rPr>
              <a:t>7</a:t>
            </a:r>
          </a:p>
        </p:txBody>
      </p:sp>
      <p:sp>
        <p:nvSpPr>
          <p:cNvPr id="9" name="box_07_043"/>
          <p:cNvSpPr>
            <a:spLocks noGrp="1"/>
          </p:cNvSpPr>
          <p:nvPr/>
        </p:nvSpPr>
        <p:spPr>
          <a:xfrm>
            <a:off x="411480" y="1371600"/>
            <a:ext cx="3606698" cy="20574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box_07_044"/>
          <p:cNvSpPr>
            <a:spLocks noGrp="1"/>
          </p:cNvSpPr>
          <p:nvPr/>
        </p:nvSpPr>
        <p:spPr>
          <a:xfrm>
            <a:off x="411480" y="1536192"/>
            <a:ext cx="64008" cy="384048"/>
          </a:xfrm>
          <a:prstGeom prst="rect">
            <a:avLst/>
          </a:prstGeom>
          <a:solidFill>
            <a:srgbClr val="00808B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 10"/>
          <p:cNvSpPr>
            <a:spLocks noGrp="1"/>
          </p:cNvSpPr>
          <p:nvPr/>
        </p:nvSpPr>
        <p:spPr>
          <a:xfrm>
            <a:off x="612648" y="1481328"/>
            <a:ext cx="3240938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trike="noStrike" cap="none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1  Fix the question</a:t>
            </a:r>
          </a:p>
        </p:txBody>
      </p:sp>
      <p:sp>
        <p:nvSpPr>
          <p:cNvPr id="12" name=" 11"/>
          <p:cNvSpPr>
            <a:spLocks noGrp="1"/>
          </p:cNvSpPr>
          <p:nvPr/>
        </p:nvSpPr>
        <p:spPr>
          <a:xfrm>
            <a:off x="612648" y="2011680"/>
            <a:ext cx="3240938" cy="1307592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How much yield each extra unit of nitrogen adds, and the most profitable rate at given grain and nitrogen prices.</a:t>
            </a:r>
          </a:p>
        </p:txBody>
      </p:sp>
      <p:sp>
        <p:nvSpPr>
          <p:cNvPr id="13" name="box_07_045"/>
          <p:cNvSpPr>
            <a:spLocks noGrp="1"/>
          </p:cNvSpPr>
          <p:nvPr/>
        </p:nvSpPr>
        <p:spPr>
          <a:xfrm>
            <a:off x="4292498" y="1371600"/>
            <a:ext cx="3606698" cy="20574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box_07_046"/>
          <p:cNvSpPr>
            <a:spLocks noGrp="1"/>
          </p:cNvSpPr>
          <p:nvPr/>
        </p:nvSpPr>
        <p:spPr>
          <a:xfrm>
            <a:off x="4292498" y="1536192"/>
            <a:ext cx="64008" cy="384048"/>
          </a:xfrm>
          <a:prstGeom prst="rect">
            <a:avLst/>
          </a:prstGeom>
          <a:solidFill>
            <a:srgbClr val="00808B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 14"/>
          <p:cNvSpPr>
            <a:spLocks noGrp="1"/>
          </p:cNvSpPr>
          <p:nvPr/>
        </p:nvSpPr>
        <p:spPr>
          <a:xfrm>
            <a:off x="4493666" y="1481328"/>
            <a:ext cx="3240938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trike="noStrike" cap="none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2  Make the copy</a:t>
            </a:r>
          </a:p>
        </p:txBody>
      </p:sp>
      <p:sp>
        <p:nvSpPr>
          <p:cNvPr id="16" name=" 15"/>
          <p:cNvSpPr>
            <a:spLocks noGrp="1"/>
          </p:cNvSpPr>
          <p:nvPr/>
        </p:nvSpPr>
        <p:spPr>
          <a:xfrm>
            <a:off x="4493666" y="2011680"/>
            <a:ext cx="3240938" cy="1307592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Keep the sites, blocks and published rates. Replace every yield with a synthetic one.</a:t>
            </a:r>
          </a:p>
        </p:txBody>
      </p:sp>
      <p:sp>
        <p:nvSpPr>
          <p:cNvPr id="17" name="box_07_047"/>
          <p:cNvSpPr>
            <a:spLocks noGrp="1"/>
          </p:cNvSpPr>
          <p:nvPr/>
        </p:nvSpPr>
        <p:spPr>
          <a:xfrm>
            <a:off x="8173517" y="1371600"/>
            <a:ext cx="3606698" cy="20574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box_07_048"/>
          <p:cNvSpPr>
            <a:spLocks noGrp="1"/>
          </p:cNvSpPr>
          <p:nvPr/>
        </p:nvSpPr>
        <p:spPr>
          <a:xfrm>
            <a:off x="8173517" y="1536192"/>
            <a:ext cx="64008" cy="384048"/>
          </a:xfrm>
          <a:prstGeom prst="rect">
            <a:avLst/>
          </a:prstGeom>
          <a:solidFill>
            <a:srgbClr val="00808B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 18"/>
          <p:cNvSpPr>
            <a:spLocks noGrp="1"/>
          </p:cNvSpPr>
          <p:nvPr/>
        </p:nvSpPr>
        <p:spPr>
          <a:xfrm>
            <a:off x="8374685" y="1481328"/>
            <a:ext cx="3240938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trike="noStrike" cap="none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3  Design on the copy</a:t>
            </a:r>
          </a:p>
        </p:txBody>
      </p:sp>
      <p:sp>
        <p:nvSpPr>
          <p:cNvPr id="20" name=" 19"/>
          <p:cNvSpPr>
            <a:spLocks noGrp="1"/>
          </p:cNvSpPr>
          <p:nvPr/>
        </p:nvSpPr>
        <p:spPr>
          <a:xfrm>
            <a:off x="8374685" y="2011680"/>
            <a:ext cx="3240938" cy="1307592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Curve shape picked by a rule set in advance. Add a known gain: the plan finds it. Add none: it finds none.</a:t>
            </a:r>
          </a:p>
        </p:txBody>
      </p:sp>
      <p:sp>
        <p:nvSpPr>
          <p:cNvPr id="21" name="box_07_049"/>
          <p:cNvSpPr>
            <a:spLocks noGrp="1"/>
          </p:cNvSpPr>
          <p:nvPr/>
        </p:nvSpPr>
        <p:spPr>
          <a:xfrm>
            <a:off x="411480" y="3611880"/>
            <a:ext cx="3606698" cy="20574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box_07_050"/>
          <p:cNvSpPr>
            <a:spLocks noGrp="1"/>
          </p:cNvSpPr>
          <p:nvPr/>
        </p:nvSpPr>
        <p:spPr>
          <a:xfrm>
            <a:off x="411480" y="3776472"/>
            <a:ext cx="64008" cy="384048"/>
          </a:xfrm>
          <a:prstGeom prst="rect">
            <a:avLst/>
          </a:prstGeom>
          <a:solidFill>
            <a:srgbClr val="00808B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 22"/>
          <p:cNvSpPr>
            <a:spLocks noGrp="1"/>
          </p:cNvSpPr>
          <p:nvPr/>
        </p:nvSpPr>
        <p:spPr>
          <a:xfrm>
            <a:off x="612648" y="3721608"/>
            <a:ext cx="3240938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trike="noStrike" cap="none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4  Review and lock</a:t>
            </a:r>
          </a:p>
        </p:txBody>
      </p:sp>
      <p:sp>
        <p:nvSpPr>
          <p:cNvPr id="24" name=" 23"/>
          <p:cNvSpPr>
            <a:spLocks noGrp="1"/>
          </p:cNvSpPr>
          <p:nvPr/>
        </p:nvSpPr>
        <p:spPr>
          <a:xfrm>
            <a:off x="612648" y="4251960"/>
            <a:ext cx="3240938" cy="1307592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An analyst at the owner approves the plan without seeing the data.</a:t>
            </a:r>
          </a:p>
        </p:txBody>
      </p:sp>
      <p:sp>
        <p:nvSpPr>
          <p:cNvPr id="25" name="box_07_051"/>
          <p:cNvSpPr>
            <a:spLocks noGrp="1"/>
          </p:cNvSpPr>
          <p:nvPr/>
        </p:nvSpPr>
        <p:spPr>
          <a:xfrm>
            <a:off x="4292498" y="3611880"/>
            <a:ext cx="3606698" cy="2057400"/>
          </a:xfrm>
          <a:prstGeom prst="roundRect">
            <a:avLst>
              <a:gd name="adj" fmla="val 4444"/>
            </a:avLst>
          </a:prstGeom>
          <a:solidFill>
            <a:srgbClr val="DAE99B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box_07_052"/>
          <p:cNvSpPr>
            <a:spLocks noGrp="1"/>
          </p:cNvSpPr>
          <p:nvPr/>
        </p:nvSpPr>
        <p:spPr>
          <a:xfrm>
            <a:off x="4292498" y="3776472"/>
            <a:ext cx="64008" cy="384048"/>
          </a:xfrm>
          <a:prstGeom prst="rect">
            <a:avLst/>
          </a:prstGeom>
          <a:solidFill>
            <a:srgbClr val="00808B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 26"/>
          <p:cNvSpPr>
            <a:spLocks noGrp="1"/>
          </p:cNvSpPr>
          <p:nvPr/>
        </p:nvSpPr>
        <p:spPr>
          <a:xfrm>
            <a:off x="4493666" y="3721608"/>
            <a:ext cx="3240938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trike="noStrike" cap="none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5  Run at the owner</a:t>
            </a:r>
          </a:p>
        </p:txBody>
      </p:sp>
      <p:sp>
        <p:nvSpPr>
          <p:cNvPr id="28" name=" 27"/>
          <p:cNvSpPr>
            <a:spLocks noGrp="1"/>
          </p:cNvSpPr>
          <p:nvPr/>
        </p:nvSpPr>
        <p:spPr>
          <a:xfrm>
            <a:off x="4493666" y="4251960"/>
            <a:ext cx="3240938" cy="1307592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Dose 0: only whether the run finished, and which warning flags were raised. Dose 1: the estimate and its range.</a:t>
            </a:r>
          </a:p>
        </p:txBody>
      </p:sp>
      <p:sp>
        <p:nvSpPr>
          <p:cNvPr id="29" name="box_07_053"/>
          <p:cNvSpPr>
            <a:spLocks noGrp="1"/>
          </p:cNvSpPr>
          <p:nvPr/>
        </p:nvSpPr>
        <p:spPr>
          <a:xfrm>
            <a:off x="8173517" y="3611880"/>
            <a:ext cx="3606698" cy="20574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box_07_054"/>
          <p:cNvSpPr>
            <a:spLocks noGrp="1"/>
          </p:cNvSpPr>
          <p:nvPr/>
        </p:nvSpPr>
        <p:spPr>
          <a:xfrm>
            <a:off x="8173517" y="3776472"/>
            <a:ext cx="64008" cy="384048"/>
          </a:xfrm>
          <a:prstGeom prst="rect">
            <a:avLst/>
          </a:prstGeom>
          <a:solidFill>
            <a:srgbClr val="00808B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 30"/>
          <p:cNvSpPr>
            <a:spLocks noGrp="1"/>
          </p:cNvSpPr>
          <p:nvPr/>
        </p:nvSpPr>
        <p:spPr>
          <a:xfrm>
            <a:off x="8374685" y="3721608"/>
            <a:ext cx="3240938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trike="noStrike" cap="none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6  Fix or publish</a:t>
            </a:r>
          </a:p>
        </p:txBody>
      </p:sp>
      <p:sp>
        <p:nvSpPr>
          <p:cNvPr id="32" name=" 31"/>
          <p:cNvSpPr>
            <a:spLocks noGrp="1"/>
          </p:cNvSpPr>
          <p:nvPr/>
        </p:nvSpPr>
        <p:spPr>
          <a:xfrm>
            <a:off x="8374685" y="4251960"/>
            <a:ext cx="3240938" cy="1307592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If a step stops, the AI fixes the plan and it runs again. At the end, the owner publishes the rate, every check and every run log.</a:t>
            </a:r>
          </a:p>
        </p:txBody>
      </p:sp>
      <p:sp>
        <p:nvSpPr>
          <p:cNvPr id="33" name=" 32"/>
          <p:cNvSpPr>
            <a:spLocks noGrp="1"/>
          </p:cNvSpPr>
          <p:nvPr/>
        </p:nvSpPr>
        <p:spPr>
          <a:xfrm>
            <a:off x="411480" y="5852160"/>
            <a:ext cx="11368735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strike="noStrike" cap="none">
                <a:solidFill>
                  <a:srgbClr val="B9CFD1">
                    <a:alpha val="100000"/>
                  </a:srgbClr>
                </a:solidFill>
                <a:latin typeface="Arial"/>
                <a:cs typeface="Arial"/>
                <a:sym typeface="Arial"/>
              </a:rPr>
              <a:t>Data: a public multi-site nitrogen trial (agridat, hernandez.nitrogen), treated as confidential to illustrate the steps. No result is reported.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_08_055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348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box_08_056"/>
          <p:cNvSpPr>
            <a:spLocks noGrp="1"/>
          </p:cNvSpPr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A3E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box_08_057"/>
          <p:cNvSpPr>
            <a:spLocks noGrp="1"/>
          </p:cNvSpPr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B6D438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182880"/>
            <a:ext cx="1417320" cy="676705"/>
          </a:xfrm>
          <a:prstGeom prst="rect">
            <a:avLst/>
          </a:prstGeom>
        </p:spPr>
      </p:pic>
      <p:sp>
        <p:nvSpPr>
          <p:cNvPr id="6" name=" 5"/>
          <p:cNvSpPr>
            <a:spLocks noGrp="1"/>
          </p:cNvSpPr>
          <p:nvPr/>
        </p:nvSpPr>
        <p:spPr>
          <a:xfrm>
            <a:off x="172121" y="109728"/>
            <a:ext cx="9628095" cy="868680"/>
          </a:xfrm>
        </p:spPr>
        <p:txBody>
          <a:bodyPr/>
          <a:lstStyle/>
          <a:p>
            <a:pPr mar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 u="none" strike="noStrike" cap="none" dirty="0">
                <a:solidFill>
                  <a:srgbClr val="FFFFFF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Privacy is enforced by the conductor (pure R), not by asking the AI to behave</a:t>
            </a:r>
          </a:p>
        </p:txBody>
      </p:sp>
      <p:sp>
        <p:nvSpPr>
          <p:cNvPr id="7" name=" 6"/>
          <p:cNvSpPr>
            <a:spLocks noGrp="1"/>
          </p:cNvSpPr>
          <p:nvPr/>
        </p:nvSpPr>
        <p:spPr>
          <a:xfrm>
            <a:off x="411480" y="6419088"/>
            <a:ext cx="10637215" cy="329184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B9CFD1">
                    <a:alpha val="100000"/>
                  </a:srgbClr>
                </a:solidFill>
                <a:latin typeface="Arial"/>
                <a:cs typeface="Arial"/>
                <a:sym typeface="Arial"/>
              </a:rPr>
              <a:t>Moldovan: privacy-preserving data analysis with non-local AI agents</a:t>
            </a:r>
          </a:p>
        </p:txBody>
      </p:sp>
      <p:sp>
        <p:nvSpPr>
          <p:cNvPr id="8" name=" 7"/>
          <p:cNvSpPr>
            <a:spLocks noGrp="1"/>
          </p:cNvSpPr>
          <p:nvPr/>
        </p:nvSpPr>
        <p:spPr>
          <a:xfrm>
            <a:off x="11140135" y="6419088"/>
            <a:ext cx="640080" cy="329184"/>
          </a:xfrm>
        </p:spPr>
        <p:txBody>
          <a:bodyPr/>
          <a:lstStyle/>
          <a:p>
            <a:pPr marL="0" marR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B9CFD1">
                    <a:alpha val="100000"/>
                  </a:srgbClr>
                </a:solidFill>
                <a:latin typeface="Arial"/>
                <a:cs typeface="Arial"/>
                <a:sym typeface="Arial"/>
              </a:rPr>
              <a:t>8</a:t>
            </a:r>
          </a:p>
        </p:txBody>
      </p:sp>
      <p:sp>
        <p:nvSpPr>
          <p:cNvPr id="9" name="box_08_058"/>
          <p:cNvSpPr>
            <a:spLocks noGrp="1"/>
          </p:cNvSpPr>
          <p:nvPr/>
        </p:nvSpPr>
        <p:spPr>
          <a:xfrm>
            <a:off x="411480" y="1371600"/>
            <a:ext cx="5547208" cy="4919472"/>
          </a:xfrm>
          <a:prstGeom prst="roundRect">
            <a:avLst>
              <a:gd name="adj" fmla="val 1859"/>
            </a:avLst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 9"/>
          <p:cNvSpPr>
            <a:spLocks noGrp="1"/>
          </p:cNvSpPr>
          <p:nvPr/>
        </p:nvSpPr>
        <p:spPr>
          <a:xfrm>
            <a:off x="594360" y="1481328"/>
            <a:ext cx="5181448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What the conductor enforces</a:t>
            </a:r>
          </a:p>
        </p:txBody>
      </p:sp>
      <p:sp>
        <p:nvSpPr>
          <p:cNvPr id="11" name=" 10"/>
          <p:cNvSpPr>
            <a:spLocks noGrp="1"/>
          </p:cNvSpPr>
          <p:nvPr/>
        </p:nvSpPr>
        <p:spPr>
          <a:xfrm>
            <a:off x="594360" y="1993392"/>
            <a:ext cx="5181448" cy="4187952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8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■ The AI gets only the checked copy, the project brief, and what the owner allows back.</a:t>
            </a:r>
          </a:p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8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■ Anything beyond the run log must be asked for in the plan in advance, and is checked before it goes back: no small groups, no figures one farm dominates, no working out a hidden value by comparing two answers.</a:t>
            </a:r>
          </a:p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■ The owner sets a limit on how much can come back in total.</a:t>
            </a:r>
          </a:p>
        </p:txBody>
      </p:sp>
      <p:sp>
        <p:nvSpPr>
          <p:cNvPr id="12" name="box_08_059"/>
          <p:cNvSpPr>
            <a:spLocks noGrp="1"/>
          </p:cNvSpPr>
          <p:nvPr/>
        </p:nvSpPr>
        <p:spPr>
          <a:xfrm>
            <a:off x="6233008" y="1371600"/>
            <a:ext cx="5547208" cy="4919472"/>
          </a:xfrm>
          <a:prstGeom prst="roundRect">
            <a:avLst>
              <a:gd name="adj" fmla="val 1859"/>
            </a:avLst>
          </a:prstGeom>
          <a:solidFill>
            <a:srgbClr val="E8F1F2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 12"/>
          <p:cNvSpPr>
            <a:spLocks noGrp="1"/>
          </p:cNvSpPr>
          <p:nvPr/>
        </p:nvSpPr>
        <p:spPr>
          <a:xfrm>
            <a:off x="6415888" y="1481328"/>
            <a:ext cx="5181448" cy="4572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00646D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What it does not guarantee</a:t>
            </a:r>
          </a:p>
        </p:txBody>
      </p:sp>
      <p:sp>
        <p:nvSpPr>
          <p:cNvPr id="14" name=" 13"/>
          <p:cNvSpPr>
            <a:spLocks noGrp="1"/>
          </p:cNvSpPr>
          <p:nvPr/>
        </p:nvSpPr>
        <p:spPr>
          <a:xfrm>
            <a:off x="6415888" y="1993392"/>
            <a:ext cx="5181448" cy="4187952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800" b="0" i="0" u="none" strike="noStrike" cap="none" dirty="0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□ Zero risk. </a:t>
            </a:r>
            <a:r>
              <a:rPr lang="en-AU" sz="1800" b="0" i="0" u="none" strike="noStrike" cap="none" dirty="0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The dataset can leak</a:t>
            </a:r>
            <a:r>
              <a:rPr lang="en-AU" dirty="0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 due to poor real dataset isolation, for example.</a:t>
            </a:r>
            <a:endParaRPr sz="1800" b="0" i="0" u="none" strike="noStrike" cap="none" dirty="0">
              <a:solidFill>
                <a:srgbClr val="1D2023">
                  <a:alpha val="100000"/>
                </a:srgbClr>
              </a:solidFill>
              <a:latin typeface="Arial"/>
              <a:cs typeface="Arial"/>
              <a:sym typeface="Arial"/>
            </a:endParaRPr>
          </a:p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800" b="0" i="0" u="none" strike="noStrike" cap="none" dirty="0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□ The copy, the brief and the published result can also give something away, so they get the same checks.</a:t>
            </a:r>
          </a:p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 dirty="0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□ </a:t>
            </a:r>
            <a:r>
              <a:rPr lang="en-AU" sz="1800" b="0" i="0" u="none" strike="noStrike" cap="none" dirty="0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Analysis and inference integrity. </a:t>
            </a:r>
            <a:r>
              <a:rPr sz="1800" b="0" i="0" u="none" strike="noStrike" cap="none" dirty="0">
                <a:solidFill>
                  <a:srgbClr val="1D2023">
                    <a:alpha val="100000"/>
                  </a:srgbClr>
                </a:solidFill>
                <a:latin typeface="Arial"/>
                <a:cs typeface="Arial"/>
                <a:sym typeface="Arial"/>
              </a:rPr>
              <a:t>An AI may already have seen the data, or reports on them, in its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_10_066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box_10_067"/>
          <p:cNvSpPr>
            <a:spLocks noGrp="1"/>
          </p:cNvSpPr>
          <p:nvPr/>
        </p:nvSpPr>
        <p:spPr>
          <a:xfrm>
            <a:off x="0" y="0"/>
            <a:ext cx="12191695" cy="4846320"/>
          </a:xfrm>
          <a:prstGeom prst="rect">
            <a:avLst/>
          </a:prstGeom>
          <a:solidFill>
            <a:srgbClr val="003A3E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box_10_068"/>
          <p:cNvSpPr>
            <a:spLocks noGrp="1"/>
          </p:cNvSpPr>
          <p:nvPr/>
        </p:nvSpPr>
        <p:spPr>
          <a:xfrm>
            <a:off x="0" y="4846320"/>
            <a:ext cx="12191695" cy="54864"/>
          </a:xfrm>
          <a:prstGeom prst="rect">
            <a:avLst/>
          </a:prstGeom>
          <a:solidFill>
            <a:srgbClr val="B6D438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1920240" cy="916825"/>
          </a:xfrm>
          <a:prstGeom prst="rect">
            <a:avLst/>
          </a:prstGeom>
        </p:spPr>
      </p:pic>
      <p:sp>
        <p:nvSpPr>
          <p:cNvPr id="6" name=" 5"/>
          <p:cNvSpPr>
            <a:spLocks noGrp="1"/>
          </p:cNvSpPr>
          <p:nvPr/>
        </p:nvSpPr>
        <p:spPr>
          <a:xfrm>
            <a:off x="411480" y="1463040"/>
            <a:ext cx="11368735" cy="82296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 i="0" u="none" strike="noStrike" cap="none">
                <a:solidFill>
                  <a:srgbClr val="FFFFFF">
                    <a:alpha val="100000"/>
                  </a:srgbClr>
                </a:solidFill>
                <a:latin typeface="Georgia"/>
                <a:cs typeface="Georgia"/>
                <a:sym typeface="Georgia"/>
              </a:rPr>
              <a:t>Thank you</a:t>
            </a:r>
          </a:p>
        </p:txBody>
      </p:sp>
      <p:sp>
        <p:nvSpPr>
          <p:cNvPr id="7" name=" 6"/>
          <p:cNvSpPr>
            <a:spLocks noGrp="1"/>
          </p:cNvSpPr>
          <p:nvPr/>
        </p:nvSpPr>
        <p:spPr>
          <a:xfrm>
            <a:off x="411480" y="2377440"/>
            <a:ext cx="11368735" cy="86868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 b="0" i="0" u="none" strike="noStrike" cap="none" dirty="0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  <a:sym typeface="Arial"/>
              </a:rPr>
              <a:t>Max Moldovan, </a:t>
            </a:r>
            <a:r>
              <a:rPr sz="2000" b="0" i="0" u="none" strike="noStrike" cap="none" dirty="0" err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  <a:sym typeface="Arial"/>
              </a:rPr>
              <a:t>max.moldovan@adelaide.edu.au</a:t>
            </a:r>
            <a:endParaRPr sz="2000" b="0" i="0" u="none" strike="noStrike" cap="none" dirty="0">
              <a:solidFill>
                <a:srgbClr val="FFFFFF">
                  <a:alpha val="100000"/>
                </a:srgbClr>
              </a:solidFill>
              <a:latin typeface="Arial"/>
              <a:cs typeface="Arial"/>
              <a:sym typeface="Arial"/>
            </a:endParaRPr>
          </a:p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strike="noStrike" cap="none" dirty="0" err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  <a:sym typeface="Arial"/>
              </a:rPr>
              <a:t>github.com</a:t>
            </a:r>
            <a:r>
              <a:rPr sz="2000" b="0" i="0" u="none" strike="noStrike" cap="none" dirty="0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  <a:sym typeface="Arial"/>
              </a:rPr>
              <a:t>/max578</a:t>
            </a:r>
          </a:p>
        </p:txBody>
      </p:sp>
      <p:sp>
        <p:nvSpPr>
          <p:cNvPr id="8" name=" 7"/>
          <p:cNvSpPr>
            <a:spLocks noGrp="1"/>
          </p:cNvSpPr>
          <p:nvPr/>
        </p:nvSpPr>
        <p:spPr>
          <a:xfrm>
            <a:off x="411480" y="3520440"/>
            <a:ext cx="11368735" cy="914400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B9CFD1">
                    <a:alpha val="100000"/>
                  </a:srgbClr>
                </a:solidFill>
                <a:latin typeface="Arial"/>
                <a:cs typeface="Arial"/>
                <a:sym typeface="Arial"/>
              </a:rPr>
              <a:t>The support of the Grains Research and Development Corporation (GRDC), provided through the Analytics for the Australian Grains Industry (AAGI) project AAGI-AU-RD-CSL, Causal learning for optimising industry relevant traits in Australian grain production systems, is acknowledged.</a:t>
            </a:r>
          </a:p>
        </p:txBody>
      </p:sp>
      <p:pic>
        <p:nvPicPr>
          <p:cNvPr id="9" name="Picture 8"/>
          <p:cNvPicPr>
            <a:picLocks noGr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048" y="5257800"/>
            <a:ext cx="8229600" cy="12271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3805</TotalTime>
  <Words>1238</Words>
  <Application>Microsoft Macintosh PowerPoint</Application>
  <PresentationFormat>Widescreen</PresentationFormat>
  <Paragraphs>110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Reproducible, hallucination-resistant and privacy-preserving data analysis with AI agents</dc:title>
  <dc:creator>Max Moldovan</dc:creator>
  <cp:lastModifiedBy>Max Moldovan</cp:lastModifiedBy>
  <cp:revision>15</cp:revision>
  <dcterms:created xsi:type="dcterms:W3CDTF">2026-10-24T00:00:00Z</dcterms:created>
  <dcterms:modified xsi:type="dcterms:W3CDTF">2026-10-28T04:49:03Z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ModifiedBy">
    <vt:lpwstr>Max Moldovan</vt:lpwstr>
  </property>
  <property fmtid="{D5CDD505-2E9C-101B-9397-08002B2CF9AE}" pid="3" name="keywords">
    <vt:lpwstr/>
  </property>
  <property fmtid="{D5CDD505-2E9C-101B-9397-08002B2CF9AE}" pid="4" name="category">
    <vt:lpwstr/>
  </property>
</Properties>
</file>