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1" userDrawn="1">
          <p15:clr>
            <a:srgbClr val="A4A3A4"/>
          </p15:clr>
        </p15:guide>
        <p15:guide id="2" pos="94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B"/>
    <a:srgbClr val="004348"/>
    <a:srgbClr val="004E54"/>
    <a:srgbClr val="B6D438"/>
    <a:srgbClr val="ACCA2C"/>
    <a:srgbClr val="004146"/>
    <a:srgbClr val="DAE99B"/>
    <a:srgbClr val="9BB628"/>
    <a:srgbClr val="D4E68A"/>
    <a:srgbClr val="CEE2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904" autoAdjust="0"/>
    <p:restoredTop sz="94606"/>
  </p:normalViewPr>
  <p:slideViewPr>
    <p:cSldViewPr snapToGrid="0">
      <p:cViewPr>
        <p:scale>
          <a:sx n="65" d="100"/>
          <a:sy n="65" d="100"/>
        </p:scale>
        <p:origin x="176" y="-7584"/>
      </p:cViewPr>
      <p:guideLst>
        <p:guide orient="horz" pos="13481"/>
        <p:guide pos="949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F92787-3FA3-D64A-8223-1D5C54204970}" type="datetimeFigureOut">
              <a:rPr lang="en-US" smtClean="0"/>
              <a:t>10/25/26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E26B69-CACD-6E43-81C4-C3D006007CC5}" type="slidenum">
              <a:rPr lang="en-US" smtClean="0"/>
              <a:t>‹#›</a:t>
            </a:fld>
            <a:endParaRPr lang="en-US"/>
          </a:p>
        </p:txBody>
      </p:sp>
    </p:spTree>
    <p:extLst>
      <p:ext uri="{BB962C8B-B14F-4D97-AF65-F5344CB8AC3E}">
        <p14:creationId xmlns:p14="http://schemas.microsoft.com/office/powerpoint/2010/main" val="127008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E26B69-CACD-6E43-81C4-C3D006007CC5}" type="slidenum">
              <a:rPr lang="en-US" smtClean="0"/>
              <a:t>1</a:t>
            </a:fld>
            <a:endParaRPr lang="en-US"/>
          </a:p>
        </p:txBody>
      </p:sp>
    </p:spTree>
    <p:extLst>
      <p:ext uri="{BB962C8B-B14F-4D97-AF65-F5344CB8AC3E}">
        <p14:creationId xmlns:p14="http://schemas.microsoft.com/office/powerpoint/2010/main" val="176937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D50EF8-FFC3-4BAE-94C4-F95ED5962157}" type="datetimeFigureOut">
              <a:rPr lang="en-AU" smtClean="0"/>
              <a:t>25/10/2026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2987958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50EF8-FFC3-4BAE-94C4-F95ED5962157}" type="datetimeFigureOut">
              <a:rPr lang="en-AU" smtClean="0"/>
              <a:t>25/10/2026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1884823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50EF8-FFC3-4BAE-94C4-F95ED5962157}" type="datetimeFigureOut">
              <a:rPr lang="en-AU" smtClean="0"/>
              <a:t>25/10/2026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1365452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50EF8-FFC3-4BAE-94C4-F95ED5962157}" type="datetimeFigureOut">
              <a:rPr lang="en-AU" smtClean="0"/>
              <a:t>25/10/2026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102947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D50EF8-FFC3-4BAE-94C4-F95ED5962157}" type="datetimeFigureOut">
              <a:rPr lang="en-AU" smtClean="0"/>
              <a:t>25/10/2026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307969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D50EF8-FFC3-4BAE-94C4-F95ED5962157}" type="datetimeFigureOut">
              <a:rPr lang="en-AU" smtClean="0"/>
              <a:t>25/10/2026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3054184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50EF8-FFC3-4BAE-94C4-F95ED5962157}" type="datetimeFigureOut">
              <a:rPr lang="en-AU" smtClean="0"/>
              <a:t>25/10/2026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75812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11D50EF8-FFC3-4BAE-94C4-F95ED5962157}" type="datetimeFigureOut">
              <a:rPr lang="en-AU" smtClean="0"/>
              <a:t>25/10/2026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3362568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11D50EF8-FFC3-4BAE-94C4-F95ED5962157}" type="datetimeFigureOut">
              <a:rPr lang="en-AU" smtClean="0"/>
              <a:t>25/10/2026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137307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50EF8-FFC3-4BAE-94C4-F95ED5962157}" type="datetimeFigureOut">
              <a:rPr lang="en-AU" smtClean="0"/>
              <a:t>25/10/2026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3065625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50EF8-FFC3-4BAE-94C4-F95ED5962157}" type="datetimeFigureOut">
              <a:rPr lang="en-AU" smtClean="0"/>
              <a:t>25/10/2026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3DF2D49-09A9-4CD0-A130-173C14A2587D}" type="slidenum">
              <a:rPr lang="en-AU" smtClean="0"/>
              <a:t>‹#›</a:t>
            </a:fld>
            <a:endParaRPr lang="en-AU"/>
          </a:p>
        </p:txBody>
      </p:sp>
    </p:spTree>
    <p:extLst>
      <p:ext uri="{BB962C8B-B14F-4D97-AF65-F5344CB8AC3E}">
        <p14:creationId xmlns:p14="http://schemas.microsoft.com/office/powerpoint/2010/main" val="17285387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11D50EF8-FFC3-4BAE-94C4-F95ED5962157}" type="datetimeFigureOut">
              <a:rPr lang="en-AU" smtClean="0"/>
              <a:t>25/10/2026</a:t>
            </a:fld>
            <a:endParaRPr lang="en-AU"/>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AU"/>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23DF2D49-09A9-4CD0-A130-173C14A2587D}" type="slidenum">
              <a:rPr lang="en-AU" smtClean="0"/>
              <a:t>‹#›</a:t>
            </a:fld>
            <a:endParaRPr lang="en-AU"/>
          </a:p>
        </p:txBody>
      </p:sp>
    </p:spTree>
    <p:extLst>
      <p:ext uri="{BB962C8B-B14F-4D97-AF65-F5344CB8AC3E}">
        <p14:creationId xmlns:p14="http://schemas.microsoft.com/office/powerpoint/2010/main" val="384105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348"/>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577D877-B042-109C-B5EB-F1CD2071578F}"/>
              </a:ext>
            </a:extLst>
          </p:cNvPr>
          <p:cNvSpPr/>
          <p:nvPr/>
        </p:nvSpPr>
        <p:spPr>
          <a:xfrm>
            <a:off x="-797" y="39561297"/>
            <a:ext cx="30275215" cy="32424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BA55EB86-58AB-A13C-C09D-9DBF1F91ED5E}"/>
              </a:ext>
            </a:extLst>
          </p:cNvPr>
          <p:cNvSpPr/>
          <p:nvPr/>
        </p:nvSpPr>
        <p:spPr>
          <a:xfrm>
            <a:off x="-1" y="6920"/>
            <a:ext cx="30275214" cy="3536380"/>
          </a:xfrm>
          <a:prstGeom prst="rect">
            <a:avLst/>
          </a:prstGeom>
          <a:solidFill>
            <a:srgbClr val="003A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rapezoid 16">
            <a:extLst>
              <a:ext uri="{FF2B5EF4-FFF2-40B4-BE49-F238E27FC236}">
                <a16:creationId xmlns:a16="http://schemas.microsoft.com/office/drawing/2014/main" id="{D93A7AB0-9BDF-18AC-B42A-74B398C5829E}"/>
              </a:ext>
            </a:extLst>
          </p:cNvPr>
          <p:cNvSpPr/>
          <p:nvPr/>
        </p:nvSpPr>
        <p:spPr>
          <a:xfrm>
            <a:off x="6172200" y="-152400"/>
            <a:ext cx="25713814" cy="3725506"/>
          </a:xfrm>
          <a:prstGeom prst="trapezoid">
            <a:avLst>
              <a:gd name="adj" fmla="val 22825"/>
            </a:avLst>
          </a:prstGeom>
          <a:gradFill flip="none" rotWithShape="1">
            <a:gsLst>
              <a:gs pos="100000">
                <a:srgbClr val="00808B">
                  <a:alpha val="50000"/>
                </a:srgbClr>
              </a:gs>
              <a:gs pos="0">
                <a:srgbClr val="005D64">
                  <a:alpha val="3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a:extLst>
              <a:ext uri="{FF2B5EF4-FFF2-40B4-BE49-F238E27FC236}">
                <a16:creationId xmlns:a16="http://schemas.microsoft.com/office/drawing/2014/main" id="{0C878589-4DD9-D0CD-FE36-96AE2F6995A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1" y="39615985"/>
            <a:ext cx="21331852" cy="3180858"/>
          </a:xfrm>
          <a:prstGeom prst="rect">
            <a:avLst/>
          </a:prstGeom>
        </p:spPr>
      </p:pic>
      <p:sp>
        <p:nvSpPr>
          <p:cNvPr id="8" name="TextBox 7">
            <a:extLst>
              <a:ext uri="{FF2B5EF4-FFF2-40B4-BE49-F238E27FC236}">
                <a16:creationId xmlns:a16="http://schemas.microsoft.com/office/drawing/2014/main" id="{241491AE-9AA8-AC57-B662-C70E2A4A943E}"/>
              </a:ext>
            </a:extLst>
          </p:cNvPr>
          <p:cNvSpPr txBox="1"/>
          <p:nvPr/>
        </p:nvSpPr>
        <p:spPr>
          <a:xfrm>
            <a:off x="22100251" y="40313862"/>
            <a:ext cx="4973872" cy="1785104"/>
          </a:xfrm>
          <a:prstGeom prst="rect">
            <a:avLst/>
          </a:prstGeom>
          <a:noFill/>
        </p:spPr>
        <p:txBody>
          <a:bodyPr wrap="square" rtlCol="0">
            <a:spAutoFit/>
          </a:bodyPr>
          <a:lstStyle/>
          <a:p>
            <a:r>
              <a:rPr lang="en-AU" sz="1600" dirty="0" b="0" i="0">
                <a:latin typeface="Proxima Nova Medium" panose="020B0603030502060204" pitchFamily="34" charset="0"/>
              </a:rPr>
              <a:t>This work was done under AAGI project AAGI-AU-RD-CSL, Causal learning for optimising industry relevant traits in Australian grain production systems. The support of the Grains Research and Development Corporation (GRDC) provided through the Analytics for the Australian Grains Industry (AAGI) project is acknowledged.</a:t>
            </a:r>
          </a:p>
        </p:txBody>
      </p:sp>
      <p:sp>
        <p:nvSpPr>
          <p:cNvPr id="13" name="Rectangle 12">
            <a:extLst>
              <a:ext uri="{FF2B5EF4-FFF2-40B4-BE49-F238E27FC236}">
                <a16:creationId xmlns:a16="http://schemas.microsoft.com/office/drawing/2014/main" id="{1313F251-A8D6-7CAC-3DA6-DFBF8B1F232C}"/>
              </a:ext>
            </a:extLst>
          </p:cNvPr>
          <p:cNvSpPr/>
          <p:nvPr/>
        </p:nvSpPr>
        <p:spPr>
          <a:xfrm>
            <a:off x="-794" y="39531491"/>
            <a:ext cx="30275213" cy="118082"/>
          </a:xfrm>
          <a:prstGeom prst="rect">
            <a:avLst/>
          </a:prstGeom>
          <a:solidFill>
            <a:srgbClr val="008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rapezoid 18">
            <a:extLst>
              <a:ext uri="{FF2B5EF4-FFF2-40B4-BE49-F238E27FC236}">
                <a16:creationId xmlns:a16="http://schemas.microsoft.com/office/drawing/2014/main" id="{2A2AAAA9-F5DC-4449-6ED8-EB4E904D0ED0}"/>
              </a:ext>
            </a:extLst>
          </p:cNvPr>
          <p:cNvSpPr/>
          <p:nvPr/>
        </p:nvSpPr>
        <p:spPr>
          <a:xfrm>
            <a:off x="6172201" y="-593624"/>
            <a:ext cx="26215258" cy="4161783"/>
          </a:xfrm>
          <a:prstGeom prst="trapezoid">
            <a:avLst>
              <a:gd name="adj" fmla="val 42130"/>
            </a:avLst>
          </a:prstGeom>
          <a:gradFill flip="none" rotWithShape="1">
            <a:gsLst>
              <a:gs pos="100000">
                <a:srgbClr val="00808B">
                  <a:alpha val="50000"/>
                </a:srgbClr>
              </a:gs>
              <a:gs pos="0">
                <a:srgbClr val="00808B">
                  <a:alpha val="3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4BEC1E58-0027-4157-3B90-C698B33C924E}"/>
              </a:ext>
            </a:extLst>
          </p:cNvPr>
          <p:cNvSpPr/>
          <p:nvPr/>
        </p:nvSpPr>
        <p:spPr>
          <a:xfrm>
            <a:off x="0" y="3543300"/>
            <a:ext cx="30275214" cy="114300"/>
          </a:xfrm>
          <a:prstGeom prst="rect">
            <a:avLst/>
          </a:prstGeom>
          <a:solidFill>
            <a:srgbClr val="B6D4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3" name="Picture 22">
            <a:extLst>
              <a:ext uri="{FF2B5EF4-FFF2-40B4-BE49-F238E27FC236}">
                <a16:creationId xmlns:a16="http://schemas.microsoft.com/office/drawing/2014/main" id="{4E844E44-E3F2-3D1A-30E5-D03B79999AD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15607" y="664289"/>
            <a:ext cx="5117403" cy="2443322"/>
          </a:xfrm>
          <a:prstGeom prst="rect">
            <a:avLst/>
          </a:prstGeom>
        </p:spPr>
      </p:pic>
      <p:sp>
        <p:nvSpPr>
          <p:cNvPr id="25" name="TextBox 24">
            <a:extLst>
              <a:ext uri="{FF2B5EF4-FFF2-40B4-BE49-F238E27FC236}">
                <a16:creationId xmlns:a16="http://schemas.microsoft.com/office/drawing/2014/main" id="{804ECD72-E208-3F75-6BFE-7DB32BE99D20}"/>
              </a:ext>
            </a:extLst>
          </p:cNvPr>
          <p:cNvSpPr txBox="1"/>
          <p:nvPr/>
        </p:nvSpPr>
        <p:spPr>
          <a:xfrm>
            <a:off x="7200900" y="0"/>
            <a:ext cx="23074313" cy="1949898"/>
          </a:xfrm>
          <a:prstGeom prst="rect">
            <a:avLst/>
          </a:prstGeom>
          <a:noFill/>
        </p:spPr>
        <p:txBody>
          <a:bodyPr wrap="square" lIns="576000" tIns="360000" rIns="72000" bIns="72000" rtlCol="0" anchor="ctr">
            <a:spAutoFit/>
          </a:bodyPr>
          <a:lstStyle/>
          <a:p>
            <a:r>
              <a:rPr lang="en-AU" sz="9600" dirty="0">
                <a:solidFill>
                  <a:schemeClr val="bg1"/>
                </a:solidFill>
                <a:latin typeface="Georgia" panose="020B0603030502060204" pitchFamily="34" charset="0"/>
              </a:rPr>
              <a:t>Crop Analytics Orchestra</a:t>
            </a:r>
          </a:p>
        </p:txBody>
      </p:sp>
      <p:sp>
        <p:nvSpPr>
          <p:cNvPr id="27" name="TextBox 26">
            <a:extLst>
              <a:ext uri="{FF2B5EF4-FFF2-40B4-BE49-F238E27FC236}">
                <a16:creationId xmlns:a16="http://schemas.microsoft.com/office/drawing/2014/main" id="{C6EFAEE2-2D90-1684-A31A-8100A713883D}"/>
              </a:ext>
            </a:extLst>
          </p:cNvPr>
          <p:cNvSpPr txBox="1"/>
          <p:nvPr/>
        </p:nvSpPr>
        <p:spPr>
          <a:xfrm>
            <a:off x="7200900" y="1885950"/>
            <a:ext cx="23074313" cy="1512104"/>
          </a:xfrm>
          <a:prstGeom prst="rect">
            <a:avLst/>
          </a:prstGeom>
          <a:noFill/>
        </p:spPr>
        <p:txBody>
          <a:bodyPr wrap="square" lIns="576000" tIns="216000" rIns="72000" bIns="108000" rtlCol="0">
            <a:spAutoFit/>
          </a:bodyPr>
          <a:lstStyle/>
          <a:p>
            <a:pPr>
              <a:spcAft>
                <a:spcPts val="600"/>
              </a:spcAft>
            </a:pPr>
            <a:r>
              <a:rPr lang="en-AU" sz="3600" dirty="0">
                <a:solidFill>
                  <a:schemeClr val="bg1"/>
                </a:solidFill>
                <a:latin typeface="Arial" panose="020B0603030502060204" pitchFamily="34" charset="0"/>
              </a:rPr>
              <a:t>A coordinated, flexible constellation of R packages for crop analytics</a:t>
            </a:r>
          </a:p>
          <a:p>
            <a:pPr>
              <a:spcAft>
                <a:spcPts val="600"/>
              </a:spcAft>
            </a:pPr>
            <a:r>
              <a:rPr lang="en-AU" sz="3000" dirty="0">
                <a:solidFill>
                  <a:schemeClr val="bg1"/>
                </a:solidFill>
                <a:latin typeface="Arial" panose="020B0603030502060204" pitchFamily="34" charset="0"/>
              </a:rPr>
              <a:t>Max Moldovan  ·  Biometry Hub, Adelaide University  ·  max.moldovan@adelaide.edu.au</a:t>
            </a:r>
          </a:p>
        </p:txBody>
      </p:sp>
      <p:pic>
        <p:nvPicPr>
          <p:cNvPr id="31" name="Picture 30"/>
          <p:cNvPicPr>
            <a:picLocks noChangeAspect="1"/>
          </p:cNvPicPr>
          <p:nvPr/>
        </p:nvPicPr>
        <p:blipFill>
          <a:blip r:embed="rId5"/>
          <a:stretch>
            <a:fillRect/>
          </a:stretch>
        </p:blipFill>
        <p:spPr>
          <a:xfrm>
            <a:off x="27461520" y="39990070"/>
            <a:ext cx="2432693" cy="2432693"/>
          </a:xfrm>
          <a:prstGeom prst="rect">
            <a:avLst/>
          </a:prstGeom>
        </p:spPr>
      </p:pic>
      <p:sp>
        <p:nvSpPr>
          <p:cNvPr id="32" name="Rounded Rectangle 31"/>
          <p:cNvSpPr/>
          <p:nvPr/>
        </p:nvSpPr>
        <p:spPr>
          <a:xfrm>
            <a:off x="740664" y="4123944"/>
            <a:ext cx="13898880" cy="4910328"/>
          </a:xfrm>
          <a:prstGeom prst="roundRect">
            <a:avLst>
              <a:gd name="adj" fmla="val 5717"/>
            </a:avLst>
          </a:prstGeom>
          <a:solidFill>
            <a:srgbClr val="DAE9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060704" y="4160520"/>
            <a:ext cx="13258800" cy="777240"/>
          </a:xfrm>
          <a:prstGeom prst="rect">
            <a:avLst/>
          </a:prstGeom>
          <a:noFill/>
        </p:spPr>
        <p:txBody>
          <a:bodyPr wrap="square" lIns="54864" tIns="54864" rIns="54864" bIns="54864" anchor="ctr"/>
          <a:lstStyle/>
          <a:p>
            <a:pPr algn="l">
              <a:lnSpc>
                <a:spcPts val="4720"/>
              </a:lnSpc>
              <a:spcAft>
                <a:spcPts val="0"/>
              </a:spcAft>
            </a:pPr>
            <a:r>
              <a:rPr sz="4000" b="1" i="0" dirty="0">
                <a:solidFill>
                  <a:srgbClr val="00646D"/>
                </a:solidFill>
                <a:latin typeface="Georgia"/>
              </a:rPr>
              <a:t>Abstract</a:t>
            </a:r>
          </a:p>
        </p:txBody>
      </p:sp>
      <p:sp>
        <p:nvSpPr>
          <p:cNvPr id="34" name="TextBox 33"/>
          <p:cNvSpPr txBox="1"/>
          <p:nvPr/>
        </p:nvSpPr>
        <p:spPr>
          <a:xfrm>
            <a:off x="1060704" y="4937760"/>
            <a:ext cx="13258800" cy="4069080"/>
          </a:xfrm>
          <a:prstGeom prst="rect">
            <a:avLst/>
          </a:prstGeom>
          <a:noFill/>
        </p:spPr>
        <p:txBody>
          <a:bodyPr wrap="square" lIns="54864" tIns="54864" rIns="54864" bIns="54864" anchor="t"/>
          <a:lstStyle/>
          <a:p>
            <a:pPr>
              <a:lnSpc>
                <a:spcPts val="2400"/>
              </a:lnSpc>
            </a:pPr>
            <a:r>
              <a:rPr lang="en-AU" sz="2400" dirty="0" b="0" i="0">
                <a:solidFill>
                  <a:srgbClr val="1D2023"/>
                </a:solidFill>
                <a:latin typeface="Arial"/>
              </a:rPr>
              <a:t>This work has been done towards GRDC-funded AAGI Research and Development project AAGI-AU-RD-CSL, </a:t>
            </a:r>
            <a:r>
              <a:rPr lang="en-AU" sz="2400" dirty="0" b="0" i="1">
                <a:solidFill>
                  <a:srgbClr val="1D2023"/>
                </a:solidFill>
                <a:latin typeface="Arial"/>
              </a:rPr>
              <a:t>Causal learning for optimising industry relevant traits in Australian grain production systems</a:t>
            </a:r>
            <a:r>
              <a:rPr lang="en-AU" sz="2400" dirty="0" b="0" i="0">
                <a:solidFill>
                  <a:srgbClr val="1D2023"/>
                </a:solidFill>
                <a:latin typeface="Arial"/>
              </a:rPr>
              <a:t>, with an intention to introduce a broader analytical paradigm to the grain industry, with a potential of AI integration. In particular, crop analytics mostly treat analytical methods either in isolation (e.g. linear modelling) or in small constellations (e.g. descriptives + modelling + economic evaluation). </a:t>
            </a:r>
            <a:r>
              <a:rPr lang="en-AU" sz="2400" dirty="0" b="1" i="0">
                <a:solidFill>
                  <a:srgbClr val="1D2023"/>
                </a:solidFill>
                <a:latin typeface="Arial"/>
              </a:rPr>
              <a:t>The Crop Analytics Orchestra is a larger constellation of 18 R packages and an interactive open-data catalogue called DataHub – all built to work together, also covering a wider open-ended range of methods.</a:t>
            </a:r>
            <a:r>
              <a:rPr lang="en-AU" sz="2400" dirty="0" b="0" i="0">
                <a:solidFill>
                  <a:srgbClr val="1D2023"/>
                </a:solidFill>
                <a:latin typeface="Arial"/>
              </a:rPr>
              <a:t> {conductoR} is a central analytical task dispatcher and outcome collector, and it is currently a pure R package, provisioned to be AI integrated. The Orchestra is practically illustrated with a study of nitrogen topdressing in barley, rehearsed on a synthetic copy of the GRDC Barley Synthesis trials with a known answer planted in it. Each package, except {conductoR}, can function stand-alone, and each aims either to be entirely novel (e.g. {proxymix}, already on CRAN) or to perform among the best in its class.</a:t>
            </a:r>
          </a:p>
        </p:txBody>
      </p:sp>
      <p:sp>
        <p:nvSpPr>
          <p:cNvPr id="35" name="Rounded Rectangle 34"/>
          <p:cNvSpPr/>
          <p:nvPr/>
        </p:nvSpPr>
        <p:spPr>
          <a:xfrm>
            <a:off x="740664" y="9376860"/>
            <a:ext cx="13898880" cy="11076249"/>
          </a:xfrm>
          <a:prstGeom prst="roundRect">
            <a:avLst>
              <a:gd name="adj" fmla="val 20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060704" y="9468300"/>
            <a:ext cx="13258800" cy="777240"/>
          </a:xfrm>
          <a:prstGeom prst="rect">
            <a:avLst/>
          </a:prstGeom>
          <a:noFill/>
        </p:spPr>
        <p:txBody>
          <a:bodyPr wrap="square" lIns="54864" tIns="54864" rIns="54864" bIns="54864" anchor="ctr"/>
          <a:lstStyle/>
          <a:p>
            <a:pPr algn="l">
              <a:lnSpc>
                <a:spcPts val="4720"/>
              </a:lnSpc>
              <a:spcAft>
                <a:spcPts val="0"/>
              </a:spcAft>
            </a:pPr>
            <a:r>
              <a:rPr sz="4000" b="1" i="0">
                <a:solidFill>
                  <a:srgbClr val="00646D"/>
                </a:solidFill>
                <a:latin typeface="Georgia"/>
              </a:rPr>
              <a:t>The orchestra</a:t>
            </a:r>
          </a:p>
        </p:txBody>
      </p:sp>
      <p:cxnSp>
        <p:nvCxnSpPr>
          <p:cNvPr id="37" name="Connector 36"/>
          <p:cNvCxnSpPr/>
          <p:nvPr/>
        </p:nvCxnSpPr>
        <p:spPr>
          <a:xfrm>
            <a:off x="1060704" y="10309548"/>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pic>
        <p:nvPicPr>
          <p:cNvPr id="38" name="Picture 37" descr="hex_roster_v10_5_3600.png"/>
          <p:cNvPicPr>
            <a:picLocks noChangeAspect="1"/>
          </p:cNvPicPr>
          <p:nvPr/>
        </p:nvPicPr>
        <p:blipFill>
          <a:blip r:embed="rId6"/>
          <a:stretch>
            <a:fillRect/>
          </a:stretch>
        </p:blipFill>
        <p:spPr>
          <a:xfrm>
            <a:off x="1060704" y="10611300"/>
            <a:ext cx="11667744" cy="4709231"/>
          </a:xfrm>
          <a:prstGeom prst="rect">
            <a:avLst/>
          </a:prstGeom>
        </p:spPr>
      </p:pic>
      <p:pic>
        <p:nvPicPr>
          <p:cNvPr id="102" name="Picture 101" descr="QR code: max578.github.io/orchestra"/>
          <p:cNvPicPr>
            <a:picLocks noChangeAspect="1"/>
          </p:cNvPicPr>
          <p:nvPr/>
        </p:nvPicPr>
        <p:blipFill>
          <a:blip r:embed="rId7"/>
          <a:stretch>
            <a:fillRect/>
          </a:stretch>
        </p:blipFill>
        <p:spPr>
          <a:xfrm>
            <a:off x="12839976" y="11966916"/>
            <a:ext cx="1440000" cy="1440000"/>
          </a:xfrm>
          <a:prstGeom prst="rect">
            <a:avLst/>
          </a:prstGeom>
        </p:spPr>
      </p:pic>
      <p:sp>
        <p:nvSpPr>
          <p:cNvPr id="103" name="TextBox 102"/>
          <p:cNvSpPr txBox="1"/>
          <p:nvPr/>
        </p:nvSpPr>
        <p:spPr>
          <a:xfrm>
            <a:off x="12659976" y="13460916"/>
            <a:ext cx="1800000" cy="503999"/>
          </a:xfrm>
          <a:prstGeom prst="rect">
            <a:avLst/>
          </a:prstGeom>
          <a:noFill/>
        </p:spPr>
        <p:txBody>
          <a:bodyPr wrap="square" lIns="0" tIns="0" rIns="0" bIns="0" anchor="t">
            <a:noAutofit/>
          </a:bodyPr>
          <a:lstStyle/>
          <a:p>
            <a:pPr algn="ctr"/>
            <a:r>
              <a:rPr lang="en-AU" sz="1600" dirty="0">
                <a:solidFill>
                  <a:srgbClr val="50544D"/>
                </a:solidFill>
                <a:latin typeface="Arial"/>
              </a:rPr>
              <a:t>max578.github.io</a:t>
            </a:r>
          </a:p>
          <a:p>
            <a:pPr algn="ctr"/>
            <a:r>
              <a:rPr lang="en-AU" sz="1600" dirty="0">
                <a:solidFill>
                  <a:srgbClr val="50544D"/>
                </a:solidFill>
                <a:latin typeface="Arial"/>
              </a:rPr>
              <a:t>/orchestra</a:t>
            </a:r>
          </a:p>
        </p:txBody>
      </p:sp>
      <p:sp>
        <p:nvSpPr>
          <p:cNvPr id="39" name="TextBox 38"/>
          <p:cNvSpPr txBox="1"/>
          <p:nvPr/>
        </p:nvSpPr>
        <p:spPr>
          <a:xfrm>
            <a:off x="2140209" y="15486140"/>
            <a:ext cx="12996601" cy="409448"/>
          </a:xfrm>
          <a:prstGeom prst="rect">
            <a:avLst/>
          </a:prstGeom>
          <a:noFill/>
        </p:spPr>
        <p:txBody>
          <a:bodyPr wrap="square" lIns="54864" tIns="54864" rIns="54864" bIns="54864" anchor="t"/>
          <a:lstStyle/>
          <a:p>
            <a:pPr algn="l">
              <a:lnSpc>
                <a:spcPts val="2360"/>
              </a:lnSpc>
              <a:spcAft>
                <a:spcPts val="0"/>
              </a:spcAft>
            </a:pPr>
            <a:r>
              <a:rPr sz="2000" b="0" i="0" dirty="0">
                <a:solidFill>
                  <a:srgbClr val="50544D"/>
                </a:solidFill>
                <a:latin typeface="Arial"/>
              </a:rPr>
              <a:t>Each hexagon is one package, </a:t>
            </a:r>
            <a:r>
              <a:rPr lang="en-AU" sz="2000" dirty="0">
                <a:solidFill>
                  <a:srgbClr val="50544D"/>
                </a:solidFill>
                <a:latin typeface="Arial"/>
              </a:rPr>
              <a:t>except</a:t>
            </a:r>
            <a:r>
              <a:rPr sz="2000" b="0" i="0" dirty="0">
                <a:solidFill>
                  <a:srgbClr val="50544D"/>
                </a:solidFill>
                <a:latin typeface="Arial"/>
              </a:rPr>
              <a:t> </a:t>
            </a:r>
            <a:r>
              <a:rPr sz="2000" b="0" i="0" dirty="0" err="1">
                <a:solidFill>
                  <a:srgbClr val="50544D"/>
                </a:solidFill>
                <a:latin typeface="Arial"/>
              </a:rPr>
              <a:t>DataHub</a:t>
            </a:r>
            <a:r>
              <a:rPr sz="2000" b="0" i="0" dirty="0">
                <a:solidFill>
                  <a:srgbClr val="50544D"/>
                </a:solidFill>
                <a:latin typeface="Arial"/>
              </a:rPr>
              <a:t>. Its border </a:t>
            </a:r>
            <a:r>
              <a:rPr sz="2000" b="0" i="0" dirty="0" err="1">
                <a:solidFill>
                  <a:srgbClr val="50544D"/>
                </a:solidFill>
                <a:latin typeface="Arial"/>
              </a:rPr>
              <a:t>colour</a:t>
            </a:r>
            <a:r>
              <a:rPr sz="2000" b="0" i="0" dirty="0">
                <a:solidFill>
                  <a:srgbClr val="50544D"/>
                </a:solidFill>
                <a:latin typeface="Arial"/>
              </a:rPr>
              <a:t> shows its role, as listed below.</a:t>
            </a:r>
          </a:p>
        </p:txBody>
      </p:sp>
      <p:sp>
        <p:nvSpPr>
          <p:cNvPr id="40" name="Rounded Rectangle 39"/>
          <p:cNvSpPr/>
          <p:nvPr/>
        </p:nvSpPr>
        <p:spPr>
          <a:xfrm>
            <a:off x="1060704" y="16324340"/>
            <a:ext cx="274320" cy="274320"/>
          </a:xfrm>
          <a:prstGeom prst="roundRect">
            <a:avLst>
              <a:gd name="adj" fmla="val 6000"/>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517904" y="16232900"/>
            <a:ext cx="5989320" cy="963930"/>
          </a:xfrm>
          <a:prstGeom prst="rect">
            <a:avLst/>
          </a:prstGeom>
          <a:noFill/>
        </p:spPr>
        <p:txBody>
          <a:bodyPr wrap="square" lIns="54864" tIns="54864" rIns="54864" bIns="54864" anchor="t"/>
          <a:lstStyle/>
          <a:p>
            <a:pPr algn="l">
              <a:lnSpc>
                <a:spcPts val="2242"/>
              </a:lnSpc>
              <a:spcAft>
                <a:spcPts val="0"/>
              </a:spcAft>
            </a:pPr>
            <a:r>
              <a:rPr sz="1900" b="1" i="0" dirty="0">
                <a:solidFill>
                  <a:srgbClr val="1D2023"/>
                </a:solidFill>
                <a:latin typeface="Arial"/>
              </a:rPr>
              <a:t>Data and privacy.</a:t>
            </a:r>
            <a:r>
              <a:rPr sz="1900" b="0" i="0" dirty="0">
                <a:solidFill>
                  <a:srgbClr val="1D2023"/>
                </a:solidFill>
                <a:latin typeface="Arial"/>
              </a:rPr>
              <a:t> {terroir}: climate, soil and farm data with their sources · {masque}: synthetic copies of private data · </a:t>
            </a:r>
            <a:r>
              <a:rPr sz="1900" b="0" i="0" dirty="0" err="1">
                <a:solidFill>
                  <a:srgbClr val="1D2023"/>
                </a:solidFill>
                <a:latin typeface="Arial"/>
              </a:rPr>
              <a:t>DataHub</a:t>
            </a:r>
            <a:r>
              <a:rPr sz="1900" b="0" i="0" dirty="0">
                <a:solidFill>
                  <a:srgbClr val="1D2023"/>
                </a:solidFill>
                <a:latin typeface="Arial"/>
              </a:rPr>
              <a:t>: open</a:t>
            </a:r>
            <a:r>
              <a:rPr lang="en-AU" sz="1900" b="0" i="0" dirty="0">
                <a:solidFill>
                  <a:srgbClr val="1D2023"/>
                </a:solidFill>
                <a:latin typeface="Arial"/>
              </a:rPr>
              <a:t>-</a:t>
            </a:r>
            <a:r>
              <a:rPr sz="1900" b="0" i="0" dirty="0">
                <a:solidFill>
                  <a:srgbClr val="1D2023"/>
                </a:solidFill>
                <a:latin typeface="Arial"/>
              </a:rPr>
              <a:t>data catalogue</a:t>
            </a:r>
          </a:p>
        </p:txBody>
      </p:sp>
      <p:sp>
        <p:nvSpPr>
          <p:cNvPr id="42" name="Rounded Rectangle 41"/>
          <p:cNvSpPr/>
          <p:nvPr/>
        </p:nvSpPr>
        <p:spPr>
          <a:xfrm>
            <a:off x="7872984" y="16324340"/>
            <a:ext cx="274320" cy="274320"/>
          </a:xfrm>
          <a:prstGeom prst="roundRect">
            <a:avLst>
              <a:gd name="adj" fmla="val 6000"/>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330184" y="16232900"/>
            <a:ext cx="5989320" cy="679196"/>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Crop simulation.</a:t>
            </a:r>
            <a:r>
              <a:rPr sz="1900" b="0" i="0">
                <a:solidFill>
                  <a:srgbClr val="1D2023"/>
                </a:solidFill>
                <a:latin typeface="Arial"/>
              </a:rPr>
              <a:t> {apsimR}: runs APSIM from R · {PESTO}: fits a crop simulator to field data</a:t>
            </a:r>
          </a:p>
        </p:txBody>
      </p:sp>
      <p:sp>
        <p:nvSpPr>
          <p:cNvPr id="44" name="Rounded Rectangle 43"/>
          <p:cNvSpPr/>
          <p:nvPr/>
        </p:nvSpPr>
        <p:spPr>
          <a:xfrm>
            <a:off x="1060704" y="17397998"/>
            <a:ext cx="274320" cy="274320"/>
          </a:xfrm>
          <a:prstGeom prst="roundRect">
            <a:avLst>
              <a:gd name="adj" fmla="val 6000"/>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517904" y="17306558"/>
            <a:ext cx="5989320" cy="1248664"/>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Causal, spatial and time series.</a:t>
            </a:r>
            <a:r>
              <a:rPr sz="1900" b="0" i="0">
                <a:solidFill>
                  <a:srgbClr val="1D2023"/>
                </a:solidFill>
                <a:latin typeface="Arial"/>
              </a:rPr>
              <a:t> {kernR}: tests whole distributions · {cdzoo}: causal discovery · {bacipair}: before and after comparisons · {gpfield}: maps a field · {kalmix}: series over time</a:t>
            </a:r>
          </a:p>
        </p:txBody>
      </p:sp>
      <p:sp>
        <p:nvSpPr>
          <p:cNvPr id="46" name="Rounded Rectangle 45"/>
          <p:cNvSpPr/>
          <p:nvPr/>
        </p:nvSpPr>
        <p:spPr>
          <a:xfrm>
            <a:off x="7872984" y="17397998"/>
            <a:ext cx="274320" cy="274320"/>
          </a:xfrm>
          <a:prstGeom prst="roundRect">
            <a:avLst>
              <a:gd name="adj" fmla="val 6000"/>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330184" y="17306558"/>
            <a:ext cx="5989320" cy="1248664"/>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Statistics and consensus.</a:t>
            </a:r>
            <a:r>
              <a:rPr sz="1900" b="0" i="0">
                <a:solidFill>
                  <a:srgbClr val="1D2023"/>
                </a:solidFill>
                <a:latin typeface="Arial"/>
              </a:rPr>
              <a:t> {flexyBayes}: Bayesian models for field trials · {koine}: an independent second analysis · {quorum}: combines estimates · {survkit}: time to an event</a:t>
            </a:r>
          </a:p>
        </p:txBody>
      </p:sp>
      <p:sp>
        <p:nvSpPr>
          <p:cNvPr id="48" name="Rounded Rectangle 47"/>
          <p:cNvSpPr/>
          <p:nvPr/>
        </p:nvSpPr>
        <p:spPr>
          <a:xfrm>
            <a:off x="1060704" y="18756390"/>
            <a:ext cx="274320" cy="274320"/>
          </a:xfrm>
          <a:prstGeom prst="roundRect">
            <a:avLst>
              <a:gd name="adj" fmla="val 6000"/>
            </a:avLst>
          </a:prstGeom>
          <a:solidFill>
            <a:srgbClr val="CC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517904" y="18664950"/>
            <a:ext cx="5989320" cy="963930"/>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Approximation and optimisation.</a:t>
            </a:r>
            <a:r>
              <a:rPr sz="1900" b="0" i="0">
                <a:solidFill>
                  <a:srgbClr val="1D2023"/>
                </a:solidFill>
                <a:latin typeface="Arial"/>
              </a:rPr>
              <a:t> {proxymix}: simplifies distributions · {optimix}: chooses an optimiser</a:t>
            </a:r>
          </a:p>
        </p:txBody>
      </p:sp>
      <p:sp>
        <p:nvSpPr>
          <p:cNvPr id="50" name="Rounded Rectangle 49"/>
          <p:cNvSpPr/>
          <p:nvPr/>
        </p:nvSpPr>
        <p:spPr>
          <a:xfrm>
            <a:off x="7872984" y="18756390"/>
            <a:ext cx="274320" cy="274320"/>
          </a:xfrm>
          <a:prstGeom prst="roundRect">
            <a:avLst>
              <a:gd name="adj" fmla="val 6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330184" y="18664950"/>
            <a:ext cx="5989320" cy="679196"/>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Decisions.</a:t>
            </a:r>
            <a:r>
              <a:rPr sz="1900" b="0" i="0">
                <a:solidFill>
                  <a:srgbClr val="1D2023"/>
                </a:solidFill>
                <a:latin typeface="Arial"/>
              </a:rPr>
              <a:t> {decideR}: decisions under uncertainty · {grainPlan}: plans for growers</a:t>
            </a:r>
          </a:p>
        </p:txBody>
      </p:sp>
      <p:sp>
        <p:nvSpPr>
          <p:cNvPr id="52" name="Rounded Rectangle 51"/>
          <p:cNvSpPr/>
          <p:nvPr/>
        </p:nvSpPr>
        <p:spPr>
          <a:xfrm>
            <a:off x="1060704" y="19830048"/>
            <a:ext cx="274320" cy="274320"/>
          </a:xfrm>
          <a:prstGeom prst="roundRect">
            <a:avLst>
              <a:gd name="adj" fmla="val 6000"/>
            </a:avLst>
          </a:prstGeom>
          <a:solidFill>
            <a:srgbClr val="F0E442"/>
          </a:solidFill>
          <a:ln w="19050">
            <a:solidFill>
              <a:srgbClr val="1D202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1517904" y="19738608"/>
            <a:ext cx="5989320" cy="394462"/>
          </a:xfrm>
          <a:prstGeom prst="rect">
            <a:avLst/>
          </a:prstGeom>
          <a:noFill/>
        </p:spPr>
        <p:txBody>
          <a:bodyPr wrap="square" lIns="54864" tIns="54864" rIns="54864" bIns="54864" anchor="t"/>
          <a:lstStyle/>
          <a:p>
            <a:pPr algn="l">
              <a:lnSpc>
                <a:spcPts val="2242"/>
              </a:lnSpc>
              <a:spcAft>
                <a:spcPts val="0"/>
              </a:spcAft>
            </a:pPr>
            <a:r>
              <a:rPr sz="1900" b="1" i="0">
                <a:solidFill>
                  <a:srgbClr val="1D2023"/>
                </a:solidFill>
                <a:latin typeface="Arial"/>
              </a:rPr>
              <a:t>At the centre.</a:t>
            </a:r>
            <a:r>
              <a:rPr sz="1900" b="0" i="0">
                <a:solidFill>
                  <a:srgbClr val="1D2023"/>
                </a:solidFill>
                <a:latin typeface="Arial"/>
              </a:rPr>
              <a:t> {conductoR}: runs an analysis plan</a:t>
            </a:r>
          </a:p>
        </p:txBody>
      </p:sp>
      <p:sp>
        <p:nvSpPr>
          <p:cNvPr id="54" name="Rounded Rectangle 53"/>
          <p:cNvSpPr/>
          <p:nvPr/>
        </p:nvSpPr>
        <p:spPr>
          <a:xfrm>
            <a:off x="740664" y="20784268"/>
            <a:ext cx="13898880" cy="11520653"/>
          </a:xfrm>
          <a:prstGeom prst="roundRect">
            <a:avLst>
              <a:gd name="adj" fmla="val 19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1060704" y="20875708"/>
            <a:ext cx="13258800" cy="777240"/>
          </a:xfrm>
          <a:prstGeom prst="rect">
            <a:avLst/>
          </a:prstGeom>
          <a:noFill/>
        </p:spPr>
        <p:txBody>
          <a:bodyPr wrap="square" lIns="54864" tIns="54864" rIns="54864" bIns="54864" anchor="ctr"/>
          <a:lstStyle/>
          <a:p>
            <a:pPr algn="l">
              <a:lnSpc>
                <a:spcPts val="4720"/>
              </a:lnSpc>
              <a:spcAft>
                <a:spcPts val="0"/>
              </a:spcAft>
            </a:pPr>
            <a:r>
              <a:rPr sz="4000" b="1" i="0">
                <a:solidFill>
                  <a:srgbClr val="00646D"/>
                </a:solidFill>
                <a:latin typeface="Georgia"/>
              </a:rPr>
              <a:t>One study through the orchestra</a:t>
            </a:r>
          </a:p>
        </p:txBody>
      </p:sp>
      <p:cxnSp>
        <p:nvCxnSpPr>
          <p:cNvPr id="56" name="Connector 55"/>
          <p:cNvCxnSpPr/>
          <p:nvPr/>
        </p:nvCxnSpPr>
        <p:spPr>
          <a:xfrm>
            <a:off x="1060704" y="21716956"/>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pic>
        <p:nvPicPr>
          <p:cNvPr id="104" name="Picture 103" descr="orchestra_map_v10_8_4000.png"/>
          <p:cNvPicPr>
            <a:picLocks noChangeAspect="1"/>
          </p:cNvPicPr>
          <p:nvPr/>
        </p:nvPicPr>
        <p:blipFill>
          <a:blip r:embed="rId11"/>
          <a:stretch>
            <a:fillRect/>
          </a:stretch>
        </p:blipFill>
        <p:spPr>
          <a:xfrm>
            <a:off x="1060704" y="22064428"/>
            <a:ext cx="8229600" cy="8083524"/>
          </a:xfrm>
          <a:prstGeom prst="rect">
            <a:avLst/>
          </a:prstGeom>
        </p:spPr>
      </p:pic>
      <p:sp>
        <p:nvSpPr>
          <p:cNvPr id="58" name="TextBox 57"/>
          <p:cNvSpPr txBox="1"/>
          <p:nvPr/>
        </p:nvSpPr>
        <p:spPr>
          <a:xfrm>
            <a:off x="9564624" y="22297206"/>
            <a:ext cx="4754880" cy="8046720"/>
          </a:xfrm>
          <a:prstGeom prst="rect">
            <a:avLst/>
          </a:prstGeom>
          <a:noFill/>
        </p:spPr>
        <p:txBody>
          <a:bodyPr wrap="square" lIns="54864" tIns="54864" rIns="54864" bIns="54864" anchor="t"/>
          <a:lstStyle/>
          <a:p>
            <a:pPr algn="l">
              <a:lnSpc>
                <a:spcPts val="2360"/>
              </a:lnSpc>
              <a:spcAft>
                <a:spcPts val="900"/>
              </a:spcAft>
            </a:pPr>
            <a:r>
              <a:rPr sz="2000" b="1" i="0" dirty="0">
                <a:solidFill>
                  <a:srgbClr val="1D2023"/>
                </a:solidFill>
                <a:latin typeface="Arial"/>
              </a:rPr>
              <a:t>1. {masque}</a:t>
            </a:r>
            <a:r>
              <a:rPr sz="2000" b="0" i="0" dirty="0">
                <a:solidFill>
                  <a:srgbClr val="1D2023"/>
                </a:solidFill>
                <a:latin typeface="Arial"/>
              </a:rPr>
              <a:t> makes a synthetic copy of the private trials; the plan is written and rehearsed on it.</a:t>
            </a:r>
          </a:p>
          <a:p>
            <a:pPr algn="l">
              <a:lnSpc>
                <a:spcPts val="2360"/>
              </a:lnSpc>
              <a:spcAft>
                <a:spcPts val="900"/>
              </a:spcAft>
            </a:pPr>
            <a:r>
              <a:rPr sz="2000" b="1" i="0" dirty="0">
                <a:solidFill>
                  <a:srgbClr val="1D2023"/>
                </a:solidFill>
                <a:latin typeface="Arial"/>
              </a:rPr>
              <a:t>2. DataHub</a:t>
            </a:r>
            <a:r>
              <a:rPr sz="2000" b="0" i="0" dirty="0">
                <a:solidFill>
                  <a:srgbClr val="1D2023"/>
                </a:solidFill>
                <a:latin typeface="Arial"/>
              </a:rPr>
              <a:t> supplies the barley price (ABARES).</a:t>
            </a:r>
          </a:p>
          <a:p>
            <a:pPr algn="l">
              <a:lnSpc>
                <a:spcPts val="2360"/>
              </a:lnSpc>
              <a:spcAft>
                <a:spcPts val="900"/>
              </a:spcAft>
            </a:pPr>
            <a:r>
              <a:rPr sz="2000" b="1" i="0" dirty="0">
                <a:solidFill>
                  <a:srgbClr val="1D2023"/>
                </a:solidFill>
                <a:latin typeface="Arial"/>
              </a:rPr>
              <a:t>3. {flexyBayes}</a:t>
            </a:r>
            <a:r>
              <a:rPr sz="2000" b="0" i="0" dirty="0">
                <a:solidFill>
                  <a:srgbClr val="1D2023"/>
                </a:solidFill>
                <a:latin typeface="Arial"/>
              </a:rPr>
              <a:t> analyses each trial, then fits the Bayesian response curve the decision uses.</a:t>
            </a:r>
          </a:p>
          <a:p>
            <a:pPr algn="l">
              <a:lnSpc>
                <a:spcPts val="2360"/>
              </a:lnSpc>
              <a:spcAft>
                <a:spcPts val="900"/>
              </a:spcAft>
            </a:pPr>
            <a:r>
              <a:rPr sz="2000" b="1" i="0" dirty="0">
                <a:solidFill>
                  <a:srgbClr val="1D2023"/>
                </a:solidFill>
                <a:latin typeface="Arial"/>
              </a:rPr>
              <a:t>4. {koine}</a:t>
            </a:r>
            <a:r>
              <a:rPr sz="2000" b="0" i="0" dirty="0">
                <a:solidFill>
                  <a:srgbClr val="1D2023"/>
                </a:solidFill>
                <a:latin typeface="Arial"/>
              </a:rPr>
              <a:t> gives an independent second analysis.</a:t>
            </a:r>
          </a:p>
          <a:p>
            <a:pPr algn="l">
              <a:lnSpc>
                <a:spcPts val="2360"/>
              </a:lnSpc>
              <a:spcAft>
                <a:spcPts val="900"/>
              </a:spcAft>
            </a:pPr>
            <a:r>
              <a:rPr sz="2000" b="1" i="0" dirty="0">
                <a:solidFill>
                  <a:srgbClr val="1D2023"/>
                </a:solidFill>
                <a:latin typeface="Arial"/>
              </a:rPr>
              <a:t>5. {quorum}</a:t>
            </a:r>
            <a:r>
              <a:rPr sz="2000" b="0" i="0" dirty="0">
                <a:solidFill>
                  <a:srgbClr val="1D2023"/>
                </a:solidFill>
                <a:latin typeface="Arial"/>
              </a:rPr>
              <a:t> checks that the analyses agree.</a:t>
            </a:r>
          </a:p>
          <a:p>
            <a:pPr algn="l">
              <a:lnSpc>
                <a:spcPts val="2360"/>
              </a:lnSpc>
              <a:spcAft>
                <a:spcPts val="900"/>
              </a:spcAft>
            </a:pPr>
            <a:r>
              <a:rPr sz="2000" b="1" i="0" dirty="0">
                <a:solidFill>
                  <a:srgbClr val="1D2023"/>
                </a:solidFill>
                <a:latin typeface="Arial"/>
              </a:rPr>
              <a:t>6. {kernR}</a:t>
            </a:r>
            <a:r>
              <a:rPr sz="2000" b="0" i="0" dirty="0">
                <a:solidFill>
                  <a:srgbClr val="1D2023"/>
                </a:solidFill>
                <a:latin typeface="Arial"/>
              </a:rPr>
              <a:t> tests whether soil water and rain change the response.</a:t>
            </a:r>
          </a:p>
          <a:p>
            <a:pPr algn="l">
              <a:lnSpc>
                <a:spcPts val="2360"/>
              </a:lnSpc>
              <a:spcAft>
                <a:spcPts val="900"/>
              </a:spcAft>
            </a:pPr>
            <a:r>
              <a:rPr sz="2000" b="1" i="0" dirty="0">
                <a:solidFill>
                  <a:srgbClr val="1D2023"/>
                </a:solidFill>
                <a:latin typeface="Arial"/>
              </a:rPr>
              <a:t>7. {janusplot}</a:t>
            </a:r>
            <a:r>
              <a:rPr sz="2000" b="0" i="0" dirty="0">
                <a:solidFill>
                  <a:srgbClr val="1D2023"/>
                </a:solidFill>
                <a:latin typeface="Arial"/>
              </a:rPr>
              <a:t> checks what the curve leaves unexplained.</a:t>
            </a:r>
          </a:p>
          <a:p>
            <a:pPr algn="l">
              <a:lnSpc>
                <a:spcPts val="2360"/>
              </a:lnSpc>
              <a:spcAft>
                <a:spcPts val="900"/>
              </a:spcAft>
            </a:pPr>
            <a:r>
              <a:rPr sz="2000" b="1" i="0" dirty="0">
                <a:solidFill>
                  <a:srgbClr val="1D2023"/>
                </a:solidFill>
                <a:latin typeface="Arial"/>
              </a:rPr>
              <a:t>8. {decideR}</a:t>
            </a:r>
            <a:r>
              <a:rPr sz="2000" b="0" i="0" dirty="0">
                <a:solidFill>
                  <a:srgbClr val="1D2023"/>
                </a:solidFill>
                <a:latin typeface="Arial"/>
              </a:rPr>
              <a:t> turns the posterior into a rate for each soil moisture reading; {grainPlan} checks it in a grower's terms.</a:t>
            </a:r>
          </a:p>
          <a:p>
            <a:pPr algn="l">
              <a:lnSpc>
                <a:spcPts val="2360"/>
              </a:lnSpc>
              <a:spcAft>
                <a:spcPts val="900"/>
              </a:spcAft>
            </a:pPr>
            <a:r>
              <a:rPr sz="2000" b="1" i="0" dirty="0">
                <a:solidFill>
                  <a:srgbClr val="1D2023"/>
                </a:solidFill>
                <a:latin typeface="Arial"/>
              </a:rPr>
              <a:t>9. {proxymix}</a:t>
            </a:r>
            <a:r>
              <a:rPr sz="2000" b="0" i="0" dirty="0">
                <a:solidFill>
                  <a:srgbClr val="1D2023"/>
                </a:solidFill>
                <a:latin typeface="Arial"/>
              </a:rPr>
              <a:t> checks that the decision has one best region, not two.</a:t>
            </a:r>
          </a:p>
          <a:p>
            <a:pPr algn="l">
              <a:lnSpc>
                <a:spcPts val="2360"/>
              </a:lnSpc>
              <a:spcAft>
                <a:spcPts val="900"/>
              </a:spcAft>
            </a:pPr>
            <a:r>
              <a:rPr sz="2000" b="1" i="0" dirty="0">
                <a:solidFill>
                  <a:srgbClr val="1D2023"/>
                </a:solidFill>
                <a:latin typeface="Arial"/>
              </a:rPr>
              <a:t>10. {conductoR}</a:t>
            </a:r>
            <a:r>
              <a:rPr sz="2000" b="0" i="0" dirty="0">
                <a:solidFill>
                  <a:srgbClr val="1D2023"/>
                </a:solidFill>
                <a:latin typeface="Arial"/>
              </a:rPr>
              <a:t> runs the sealed plan, and logs each dispatch and collect.</a:t>
            </a:r>
          </a:p>
        </p:txBody>
      </p:sp>
      <p:sp>
        <p:nvSpPr>
          <p:cNvPr id="59" name="TextBox 58"/>
          <p:cNvSpPr txBox="1"/>
          <p:nvPr/>
        </p:nvSpPr>
        <p:spPr>
          <a:xfrm>
            <a:off x="877824" y="30742345"/>
            <a:ext cx="13258800" cy="1175216"/>
          </a:xfrm>
          <a:prstGeom prst="rect">
            <a:avLst/>
          </a:prstGeom>
          <a:noFill/>
        </p:spPr>
        <p:txBody>
          <a:bodyPr wrap="square" lIns="54864" tIns="54864" rIns="54864" bIns="54864" anchor="t"/>
          <a:lstStyle/>
          <a:p>
            <a:pPr algn="l">
              <a:lnSpc>
                <a:spcPts val="2360"/>
              </a:lnSpc>
              <a:spcAft>
                <a:spcPts val="0"/>
              </a:spcAft>
            </a:pPr>
            <a:r>
              <a:rPr sz="2000" b="0" i="0" dirty="0" err="1">
                <a:solidFill>
                  <a:srgbClr val="50544D"/>
                </a:solidFill>
                <a:latin typeface="Arial"/>
              </a:rPr>
              <a:t>Colours are as declared in the list above. Dotted circles are packages from outside the Orchestra, used by Orchestra members. Bold arrows are the handoffs {conductoR} recorded in the rehearsal run, and dashed arrows ran beside it. {dagitty} computes the adjustment set and is not drawn.</a:t>
            </a:r>
            <a:endParaRPr sz="2000" b="0" i="0" dirty="0">
              <a:solidFill>
                <a:srgbClr val="50544D"/>
              </a:solidFill>
              <a:latin typeface="Arial"/>
            </a:endParaRPr>
          </a:p>
        </p:txBody>
      </p:sp>
      <p:sp>
        <p:nvSpPr>
          <p:cNvPr id="60" name="Rounded Rectangle 59"/>
          <p:cNvSpPr/>
          <p:nvPr/>
        </p:nvSpPr>
        <p:spPr>
          <a:xfrm>
            <a:off x="740664" y="32645223"/>
            <a:ext cx="13898880" cy="6628257"/>
          </a:xfrm>
          <a:prstGeom prst="roundRect">
            <a:avLst>
              <a:gd name="adj" fmla="val 344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1087565" y="32645223"/>
            <a:ext cx="13258800" cy="777240"/>
          </a:xfrm>
          <a:prstGeom prst="rect">
            <a:avLst/>
          </a:prstGeom>
          <a:noFill/>
        </p:spPr>
        <p:txBody>
          <a:bodyPr wrap="square" lIns="54864" tIns="54864" rIns="54864" bIns="54864" anchor="ctr"/>
          <a:lstStyle/>
          <a:p>
            <a:pPr algn="l">
              <a:lnSpc>
                <a:spcPts val="4720"/>
              </a:lnSpc>
              <a:spcAft>
                <a:spcPts val="0"/>
              </a:spcAft>
            </a:pPr>
            <a:r>
              <a:rPr sz="4000" b="1" i="0">
                <a:solidFill>
                  <a:srgbClr val="00646D"/>
                </a:solidFill>
                <a:latin typeface="Georgia"/>
              </a:rPr>
              <a:t>How the packages work together</a:t>
            </a:r>
          </a:p>
        </p:txBody>
      </p:sp>
      <p:cxnSp>
        <p:nvCxnSpPr>
          <p:cNvPr id="62" name="Connector 61"/>
          <p:cNvCxnSpPr/>
          <p:nvPr/>
        </p:nvCxnSpPr>
        <p:spPr>
          <a:xfrm>
            <a:off x="877824" y="33422463"/>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60704" y="33508830"/>
            <a:ext cx="13258800" cy="3590626"/>
          </a:xfrm>
          <a:prstGeom prst="rect">
            <a:avLst/>
          </a:prstGeom>
          <a:noFill/>
        </p:spPr>
        <p:txBody>
          <a:bodyPr wrap="square" lIns="54864" tIns="54864" rIns="54864" bIns="54864" anchor="t"/>
          <a:lstStyle/>
          <a:p>
            <a:pPr marL="384048" indent="-384048">
              <a:lnSpc>
                <a:spcPts val="2713"/>
              </a:lnSpc>
              <a:spcAft>
                <a:spcPts val="1035"/>
              </a:spcAft>
              <a:buFontTx/>
              <a:buChar char="•"/>
            </a:pPr>
            <a:r>
              <a:rPr lang="en-AU" sz="2300" b="1" dirty="0">
                <a:solidFill>
                  <a:srgbClr val="1D2023"/>
                </a:solidFill>
                <a:latin typeface="Arial"/>
              </a:rPr>
              <a:t>One shared philosophy</a:t>
            </a:r>
            <a:r>
              <a:rPr lang="en-AU" sz="2300" dirty="0">
                <a:solidFill>
                  <a:srgbClr val="1D2023"/>
                </a:solidFill>
                <a:latin typeface="Arial"/>
              </a:rPr>
              <a:t>. The Orchestra works together to take a grain-production question from open data to a decision a grower can act on.</a:t>
            </a:r>
            <a:endParaRPr lang="en-AU" sz="2300" b="1" dirty="0">
              <a:solidFill>
                <a:srgbClr val="1D2023"/>
              </a:solidFill>
              <a:latin typeface="Arial"/>
            </a:endParaRPr>
          </a:p>
          <a:p>
            <a:pPr marL="384048" indent="-384048">
              <a:lnSpc>
                <a:spcPts val="2713"/>
              </a:lnSpc>
              <a:spcAft>
                <a:spcPts val="1035"/>
              </a:spcAft>
              <a:buFontTx/>
              <a:buChar char="•"/>
            </a:pPr>
            <a:r>
              <a:rPr lang="en-AU" sz="2300" b="1" dirty="0">
                <a:solidFill>
                  <a:srgbClr val="1D2023"/>
                </a:solidFill>
                <a:latin typeface="Arial"/>
              </a:rPr>
              <a:t>One plan.</a:t>
            </a:r>
            <a:r>
              <a:rPr lang="en-AU" sz="2300" dirty="0">
                <a:solidFill>
                  <a:srgbClr val="1D2023"/>
                </a:solidFill>
                <a:latin typeface="Arial"/>
              </a:rPr>
              <a:t> In its present form, {</a:t>
            </a:r>
            <a:r>
              <a:rPr lang="en-AU" sz="2300" dirty="0" err="1">
                <a:solidFill>
                  <a:srgbClr val="1D2023"/>
                </a:solidFill>
                <a:latin typeface="Arial"/>
              </a:rPr>
              <a:t>conductoR</a:t>
            </a:r>
            <a:r>
              <a:rPr lang="en-AU" sz="2300" dirty="0">
                <a:solidFill>
                  <a:srgbClr val="1D2023"/>
                </a:solidFill>
                <a:latin typeface="Arial"/>
              </a:rPr>
              <a:t>} runs an analysis algorithmically, reading from a YAML file, dispatching analytical tasks and re-distributing results. The study on this poster ran this way.</a:t>
            </a:r>
            <a:endParaRPr lang="en-AU" sz="2300" b="1" i="0" dirty="0">
              <a:solidFill>
                <a:srgbClr val="1D2023"/>
              </a:solidFill>
              <a:latin typeface="Arial"/>
            </a:endParaRPr>
          </a:p>
          <a:p>
            <a:pPr marL="384048" indent="-384048" algn="l">
              <a:lnSpc>
                <a:spcPts val="2713"/>
              </a:lnSpc>
              <a:spcAft>
                <a:spcPts val="1035"/>
              </a:spcAft>
              <a:buChar char="•"/>
            </a:pPr>
            <a:r>
              <a:rPr sz="2300" b="1" i="0" dirty="0">
                <a:solidFill>
                  <a:srgbClr val="1D2023"/>
                </a:solidFill>
                <a:latin typeface="Arial"/>
              </a:rPr>
              <a:t>One</a:t>
            </a:r>
            <a:r>
              <a:rPr lang="en-AU" sz="2300" b="1" i="0" dirty="0">
                <a:solidFill>
                  <a:srgbClr val="1D2023"/>
                </a:solidFill>
                <a:latin typeface="Arial"/>
              </a:rPr>
              <a:t> data and</a:t>
            </a:r>
            <a:r>
              <a:rPr sz="2300" b="1" i="0" dirty="0">
                <a:solidFill>
                  <a:srgbClr val="1D2023"/>
                </a:solidFill>
                <a:latin typeface="Arial"/>
              </a:rPr>
              <a:t> result format.</a:t>
            </a:r>
            <a:r>
              <a:rPr sz="2300" b="0" i="0" dirty="0">
                <a:solidFill>
                  <a:srgbClr val="1D2023"/>
                </a:solidFill>
                <a:latin typeface="Arial"/>
              </a:rPr>
              <a:t> </a:t>
            </a:r>
            <a:r>
              <a:rPr lang="en-AU" sz="2300" dirty="0">
                <a:solidFill>
                  <a:srgbClr val="1D2023"/>
                </a:solidFill>
                <a:latin typeface="Arial"/>
              </a:rPr>
              <a:t>Each dataset is accepted by {</a:t>
            </a:r>
            <a:r>
              <a:rPr lang="en-AU" sz="2300" dirty="0" err="1">
                <a:solidFill>
                  <a:srgbClr val="1D2023"/>
                </a:solidFill>
                <a:latin typeface="Arial"/>
              </a:rPr>
              <a:t>conductoR</a:t>
            </a:r>
            <a:r>
              <a:rPr lang="en-AU" sz="2300" dirty="0">
                <a:solidFill>
                  <a:srgbClr val="1D2023"/>
                </a:solidFill>
                <a:latin typeface="Arial"/>
              </a:rPr>
              <a:t>} and dispatched further in a unified format. </a:t>
            </a:r>
            <a:r>
              <a:rPr sz="2300" b="0" i="0" dirty="0">
                <a:solidFill>
                  <a:srgbClr val="1D2023"/>
                </a:solidFill>
                <a:latin typeface="Arial"/>
              </a:rPr>
              <a:t>Each result </a:t>
            </a:r>
            <a:r>
              <a:rPr lang="en-AU" sz="2300" b="0" i="0" dirty="0">
                <a:solidFill>
                  <a:srgbClr val="1D2023"/>
                </a:solidFill>
                <a:latin typeface="Arial"/>
              </a:rPr>
              <a:t>contains</a:t>
            </a:r>
            <a:r>
              <a:rPr sz="2300" b="0" i="0" dirty="0">
                <a:solidFill>
                  <a:srgbClr val="1D2023"/>
                </a:solidFill>
                <a:latin typeface="Arial"/>
              </a:rPr>
              <a:t> its estimate, its uncertainty range and its data source, so the next package can check it and use it</a:t>
            </a:r>
            <a:r>
              <a:rPr lang="en-AU" sz="2300" b="0" i="0" dirty="0">
                <a:solidFill>
                  <a:srgbClr val="1D2023"/>
                </a:solidFill>
                <a:latin typeface="Arial"/>
              </a:rPr>
              <a:t> either </a:t>
            </a:r>
            <a:r>
              <a:rPr sz="2300" b="0" i="0" dirty="0">
                <a:solidFill>
                  <a:srgbClr val="1D2023"/>
                </a:solidFill>
                <a:latin typeface="Arial"/>
              </a:rPr>
              <a:t>directly</a:t>
            </a:r>
            <a:r>
              <a:rPr lang="en-AU" sz="2300" b="0" i="0" dirty="0">
                <a:solidFill>
                  <a:srgbClr val="1D2023"/>
                </a:solidFill>
                <a:latin typeface="Arial"/>
              </a:rPr>
              <a:t> or through {</a:t>
            </a:r>
            <a:r>
              <a:rPr lang="en-AU" sz="2300" b="0" i="0" dirty="0" err="1">
                <a:solidFill>
                  <a:srgbClr val="1D2023"/>
                </a:solidFill>
                <a:latin typeface="Arial"/>
              </a:rPr>
              <a:t>conductoR</a:t>
            </a:r>
            <a:r>
              <a:rPr lang="en-AU" sz="2300" b="0" i="0" dirty="0">
                <a:solidFill>
                  <a:srgbClr val="1D2023"/>
                </a:solidFill>
                <a:latin typeface="Arial"/>
              </a:rPr>
              <a:t>}</a:t>
            </a:r>
            <a:r>
              <a:rPr sz="2300" b="0" i="0" dirty="0">
                <a:solidFill>
                  <a:srgbClr val="1D2023"/>
                </a:solidFill>
                <a:latin typeface="Arial"/>
              </a:rPr>
              <a:t>.</a:t>
            </a:r>
            <a:endParaRPr lang="en-AU" sz="2300" b="0" i="0" dirty="0">
              <a:solidFill>
                <a:srgbClr val="1D2023"/>
              </a:solidFill>
              <a:latin typeface="Arial"/>
            </a:endParaRPr>
          </a:p>
          <a:p>
            <a:pPr marL="384048" indent="-384048" algn="l">
              <a:lnSpc>
                <a:spcPts val="2713"/>
              </a:lnSpc>
              <a:spcAft>
                <a:spcPts val="0"/>
              </a:spcAft>
              <a:buChar char="•"/>
            </a:pPr>
            <a:r>
              <a:rPr sz="2300" b="1" i="0" dirty="0">
                <a:solidFill>
                  <a:srgbClr val="1D2023"/>
                </a:solidFill>
                <a:latin typeface="Arial"/>
              </a:rPr>
              <a:t>One install.</a:t>
            </a:r>
            <a:r>
              <a:rPr sz="2300" b="0" i="0" dirty="0">
                <a:solidFill>
                  <a:srgbClr val="1D2023"/>
                </a:solidFill>
                <a:latin typeface="Arial"/>
              </a:rPr>
              <a:t> The sixteen public packages</a:t>
            </a:r>
            <a:r>
              <a:rPr lang="en-AU" sz="2300" dirty="0">
                <a:solidFill>
                  <a:srgbClr val="1D2023"/>
                </a:solidFill>
                <a:latin typeface="Arial"/>
              </a:rPr>
              <a:t> </a:t>
            </a:r>
            <a:r>
              <a:rPr sz="2300" b="0" i="0" dirty="0">
                <a:solidFill>
                  <a:srgbClr val="1D2023"/>
                </a:solidFill>
                <a:latin typeface="Arial"/>
              </a:rPr>
              <a:t>install with one call:</a:t>
            </a:r>
          </a:p>
        </p:txBody>
      </p:sp>
      <p:sp>
        <p:nvSpPr>
          <p:cNvPr id="64" name="Rounded Rectangle 63"/>
          <p:cNvSpPr/>
          <p:nvPr/>
        </p:nvSpPr>
        <p:spPr>
          <a:xfrm>
            <a:off x="1060704" y="37070792"/>
            <a:ext cx="13258800" cy="1882648"/>
          </a:xfrm>
          <a:prstGeom prst="roundRect">
            <a:avLst>
              <a:gd name="adj" fmla="val 6000"/>
            </a:avLst>
          </a:prstGeom>
          <a:solidFill>
            <a:srgbClr val="F2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1773365" y="37317871"/>
            <a:ext cx="12893040" cy="1608328"/>
          </a:xfrm>
          <a:prstGeom prst="rect">
            <a:avLst/>
          </a:prstGeom>
          <a:noFill/>
        </p:spPr>
        <p:txBody>
          <a:bodyPr wrap="square" lIns="54864" tIns="54864" rIns="54864" bIns="54864" anchor="t"/>
          <a:lstStyle/>
          <a:p>
            <a:pPr algn="l">
              <a:lnSpc>
                <a:spcPts val="2360"/>
              </a:lnSpc>
              <a:spcAft>
                <a:spcPts val="0"/>
              </a:spcAft>
            </a:pPr>
            <a:r>
              <a:rPr sz="2000" b="0" i="0" dirty="0" err="1">
                <a:solidFill>
                  <a:srgbClr val="1D2023"/>
                </a:solidFill>
                <a:latin typeface="Menlo"/>
              </a:rPr>
              <a:t>install.packages</a:t>
            </a:r>
            <a:r>
              <a:rPr sz="2000" b="0" i="0" dirty="0">
                <a:solidFill>
                  <a:srgbClr val="1D2023"/>
                </a:solidFill>
                <a:latin typeface="Menlo"/>
              </a:rPr>
              <a:t>(c("</a:t>
            </a:r>
            <a:r>
              <a:rPr sz="2000" b="0" i="0" dirty="0" err="1">
                <a:solidFill>
                  <a:srgbClr val="1D2023"/>
                </a:solidFill>
                <a:latin typeface="Menlo"/>
              </a:rPr>
              <a:t>apsimR</a:t>
            </a:r>
            <a:r>
              <a:rPr sz="2000" b="0" i="0" dirty="0">
                <a:solidFill>
                  <a:srgbClr val="1D2023"/>
                </a:solidFill>
                <a:latin typeface="Menlo"/>
              </a:rPr>
              <a:t>", "</a:t>
            </a:r>
            <a:r>
              <a:rPr sz="2000" b="0" i="0" dirty="0" err="1">
                <a:solidFill>
                  <a:srgbClr val="1D2023"/>
                </a:solidFill>
                <a:latin typeface="Menlo"/>
              </a:rPr>
              <a:t>bacipair</a:t>
            </a:r>
            <a:r>
              <a:rPr sz="2000" b="0" i="0" dirty="0">
                <a:solidFill>
                  <a:srgbClr val="1D2023"/>
                </a:solidFill>
                <a:latin typeface="Menlo"/>
              </a:rPr>
              <a:t>", "</a:t>
            </a:r>
            <a:r>
              <a:rPr sz="2000" b="0" i="0" dirty="0" err="1">
                <a:solidFill>
                  <a:srgbClr val="1D2023"/>
                </a:solidFill>
                <a:latin typeface="Menlo"/>
              </a:rPr>
              <a:t>cdzoo</a:t>
            </a:r>
            <a:r>
              <a:rPr sz="2000" b="0" i="0" dirty="0">
                <a:solidFill>
                  <a:srgbClr val="1D2023"/>
                </a:solidFill>
                <a:latin typeface="Menlo"/>
              </a:rPr>
              <a:t>", "</a:t>
            </a:r>
            <a:r>
              <a:rPr sz="2000" b="0" i="0" dirty="0" err="1">
                <a:solidFill>
                  <a:srgbClr val="1D2023"/>
                </a:solidFill>
                <a:latin typeface="Menlo"/>
              </a:rPr>
              <a:t>conductoR</a:t>
            </a:r>
            <a:r>
              <a:rPr sz="2000" b="0" i="0" dirty="0">
                <a:solidFill>
                  <a:srgbClr val="1D2023"/>
                </a:solidFill>
                <a:latin typeface="Menlo"/>
              </a:rPr>
              <a:t>",</a:t>
            </a:r>
          </a:p>
          <a:p>
            <a:pPr algn="l">
              <a:lnSpc>
                <a:spcPts val="2360"/>
              </a:lnSpc>
              <a:spcAft>
                <a:spcPts val="0"/>
              </a:spcAft>
            </a:pPr>
            <a:r>
              <a:rPr sz="2000" b="0" i="0" dirty="0">
                <a:solidFill>
                  <a:srgbClr val="1D2023"/>
                </a:solidFill>
                <a:latin typeface="Menlo"/>
              </a:rPr>
              <a:t>  "</a:t>
            </a:r>
            <a:r>
              <a:rPr sz="2000" b="0" i="0" dirty="0" err="1">
                <a:solidFill>
                  <a:srgbClr val="1D2023"/>
                </a:solidFill>
                <a:latin typeface="Menlo"/>
              </a:rPr>
              <a:t>decideR</a:t>
            </a:r>
            <a:r>
              <a:rPr sz="2000" b="0" i="0" dirty="0">
                <a:solidFill>
                  <a:srgbClr val="1D2023"/>
                </a:solidFill>
                <a:latin typeface="Menlo"/>
              </a:rPr>
              <a:t>", "</a:t>
            </a:r>
            <a:r>
              <a:rPr sz="2000" b="0" i="0" dirty="0" err="1">
                <a:solidFill>
                  <a:srgbClr val="1D2023"/>
                </a:solidFill>
                <a:latin typeface="Menlo"/>
              </a:rPr>
              <a:t>gpfield</a:t>
            </a:r>
            <a:r>
              <a:rPr sz="2000" b="0" i="0" dirty="0">
                <a:solidFill>
                  <a:srgbClr val="1D2023"/>
                </a:solidFill>
                <a:latin typeface="Menlo"/>
              </a:rPr>
              <a:t>", "</a:t>
            </a:r>
            <a:r>
              <a:rPr sz="2000" b="0" i="0" dirty="0" err="1">
                <a:solidFill>
                  <a:srgbClr val="1D2023"/>
                </a:solidFill>
                <a:latin typeface="Menlo"/>
              </a:rPr>
              <a:t>grainPlan</a:t>
            </a:r>
            <a:r>
              <a:rPr sz="2000" b="0" i="0" dirty="0">
                <a:solidFill>
                  <a:srgbClr val="1D2023"/>
                </a:solidFill>
                <a:latin typeface="Menlo"/>
              </a:rPr>
              <a:t>", "</a:t>
            </a:r>
            <a:r>
              <a:rPr sz="2000" b="0" i="0" dirty="0" err="1">
                <a:solidFill>
                  <a:srgbClr val="1D2023"/>
                </a:solidFill>
                <a:latin typeface="Menlo"/>
              </a:rPr>
              <a:t>kalmix</a:t>
            </a:r>
            <a:r>
              <a:rPr sz="2000" b="0" i="0" dirty="0">
                <a:solidFill>
                  <a:srgbClr val="1D2023"/>
                </a:solidFill>
                <a:latin typeface="Menlo"/>
              </a:rPr>
              <a:t>", "</a:t>
            </a:r>
            <a:r>
              <a:rPr sz="2000" b="0" i="0" dirty="0" err="1">
                <a:solidFill>
                  <a:srgbClr val="1D2023"/>
                </a:solidFill>
                <a:latin typeface="Menlo"/>
              </a:rPr>
              <a:t>kernR</a:t>
            </a:r>
            <a:r>
              <a:rPr sz="2000" b="0" i="0" dirty="0">
                <a:solidFill>
                  <a:srgbClr val="1D2023"/>
                </a:solidFill>
                <a:latin typeface="Menlo"/>
              </a:rPr>
              <a:t>", "koine",</a:t>
            </a:r>
          </a:p>
          <a:p>
            <a:pPr algn="l">
              <a:lnSpc>
                <a:spcPts val="2360"/>
              </a:lnSpc>
              <a:spcAft>
                <a:spcPts val="0"/>
              </a:spcAft>
            </a:pPr>
            <a:r>
              <a:rPr sz="2000" b="0" i="0" dirty="0">
                <a:solidFill>
                  <a:srgbClr val="1D2023"/>
                </a:solidFill>
                <a:latin typeface="Menlo"/>
              </a:rPr>
              <a:t>  "masque", "</a:t>
            </a:r>
            <a:r>
              <a:rPr sz="2000" b="0" i="0" dirty="0" err="1">
                <a:solidFill>
                  <a:srgbClr val="1D2023"/>
                </a:solidFill>
                <a:latin typeface="Menlo"/>
              </a:rPr>
              <a:t>optimix</a:t>
            </a:r>
            <a:r>
              <a:rPr sz="2000" b="0" i="0" dirty="0">
                <a:solidFill>
                  <a:srgbClr val="1D2023"/>
                </a:solidFill>
                <a:latin typeface="Menlo"/>
              </a:rPr>
              <a:t>", "PESTO", "</a:t>
            </a:r>
            <a:r>
              <a:rPr sz="2000" b="0" i="0" dirty="0" err="1">
                <a:solidFill>
                  <a:srgbClr val="1D2023"/>
                </a:solidFill>
                <a:latin typeface="Menlo"/>
              </a:rPr>
              <a:t>proxymix</a:t>
            </a:r>
            <a:r>
              <a:rPr sz="2000" b="0" i="0" dirty="0">
                <a:solidFill>
                  <a:srgbClr val="1D2023"/>
                </a:solidFill>
                <a:latin typeface="Menlo"/>
              </a:rPr>
              <a:t>", "</a:t>
            </a:r>
            <a:r>
              <a:rPr sz="2000" b="0" i="0" dirty="0" err="1">
                <a:solidFill>
                  <a:srgbClr val="1D2023"/>
                </a:solidFill>
                <a:latin typeface="Menlo"/>
              </a:rPr>
              <a:t>survkit</a:t>
            </a:r>
            <a:r>
              <a:rPr sz="2000" b="0" i="0" dirty="0">
                <a:solidFill>
                  <a:srgbClr val="1D2023"/>
                </a:solidFill>
                <a:latin typeface="Menlo"/>
              </a:rPr>
              <a:t>", "terroir"),</a:t>
            </a:r>
          </a:p>
          <a:p>
            <a:pPr algn="l">
              <a:lnSpc>
                <a:spcPts val="2360"/>
              </a:lnSpc>
              <a:spcAft>
                <a:spcPts val="0"/>
              </a:spcAft>
            </a:pPr>
            <a:r>
              <a:rPr sz="2000" b="0" i="0" dirty="0">
                <a:solidFill>
                  <a:srgbClr val="1D2023"/>
                </a:solidFill>
                <a:latin typeface="Menlo"/>
              </a:rPr>
              <a:t>  repos = c("https://max578.r-universe.dev",</a:t>
            </a:r>
          </a:p>
          <a:p>
            <a:pPr algn="l">
              <a:lnSpc>
                <a:spcPts val="2360"/>
              </a:lnSpc>
              <a:spcAft>
                <a:spcPts val="0"/>
              </a:spcAft>
            </a:pPr>
            <a:r>
              <a:rPr sz="2000" b="0" i="0" dirty="0">
                <a:solidFill>
                  <a:srgbClr val="1D2023"/>
                </a:solidFill>
                <a:latin typeface="Menlo"/>
              </a:rPr>
              <a:t>            "https://</a:t>
            </a:r>
            <a:r>
              <a:rPr sz="2000" b="0" i="0" dirty="0" err="1">
                <a:solidFill>
                  <a:srgbClr val="1D2023"/>
                </a:solidFill>
                <a:latin typeface="Menlo"/>
              </a:rPr>
              <a:t>cloud.r-project.org</a:t>
            </a:r>
            <a:r>
              <a:rPr sz="2000" b="0" i="0" dirty="0">
                <a:solidFill>
                  <a:srgbClr val="1D2023"/>
                </a:solidFill>
                <a:latin typeface="Menlo"/>
              </a:rPr>
              <a:t>"))</a:t>
            </a:r>
          </a:p>
        </p:txBody>
      </p:sp>
      <p:sp>
        <p:nvSpPr>
          <p:cNvPr id="66" name="Rounded Rectangle 65"/>
          <p:cNvSpPr/>
          <p:nvPr/>
        </p:nvSpPr>
        <p:spPr>
          <a:xfrm>
            <a:off x="15608808" y="4123944"/>
            <a:ext cx="13898880" cy="5125466"/>
          </a:xfrm>
          <a:prstGeom prst="roundRect">
            <a:avLst>
              <a:gd name="adj" fmla="val 446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TextBox 66"/>
          <p:cNvSpPr txBox="1"/>
          <p:nvPr/>
        </p:nvSpPr>
        <p:spPr>
          <a:xfrm>
            <a:off x="15928848" y="4215384"/>
            <a:ext cx="13258800" cy="777240"/>
          </a:xfrm>
          <a:prstGeom prst="rect">
            <a:avLst/>
          </a:prstGeom>
          <a:noFill/>
        </p:spPr>
        <p:txBody>
          <a:bodyPr wrap="square" lIns="54864" tIns="54864" rIns="54864" bIns="54864" anchor="ctr"/>
          <a:lstStyle/>
          <a:p>
            <a:pPr algn="l">
              <a:lnSpc>
                <a:spcPts val="4720"/>
              </a:lnSpc>
              <a:spcAft>
                <a:spcPts val="0"/>
              </a:spcAft>
            </a:pPr>
            <a:r>
              <a:rPr sz="4000" b="1" i="0">
                <a:solidFill>
                  <a:srgbClr val="00646D"/>
                </a:solidFill>
                <a:latin typeface="Georgia"/>
              </a:rPr>
              <a:t>DataHub: the data layer</a:t>
            </a:r>
          </a:p>
        </p:txBody>
      </p:sp>
      <p:cxnSp>
        <p:nvCxnSpPr>
          <p:cNvPr id="68" name="Connector 67"/>
          <p:cNvCxnSpPr/>
          <p:nvPr/>
        </p:nvCxnSpPr>
        <p:spPr>
          <a:xfrm>
            <a:off x="15928848" y="5056632"/>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15928848" y="5404104"/>
            <a:ext cx="3143250" cy="1762506"/>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15928848" y="5513832"/>
            <a:ext cx="3143250" cy="671830"/>
          </a:xfrm>
          <a:prstGeom prst="rect">
            <a:avLst/>
          </a:prstGeom>
          <a:noFill/>
        </p:spPr>
        <p:txBody>
          <a:bodyPr wrap="square" lIns="54864" tIns="54864" rIns="54864" bIns="54864" anchor="t"/>
          <a:lstStyle/>
          <a:p>
            <a:pPr algn="ctr">
              <a:lnSpc>
                <a:spcPts val="5427"/>
              </a:lnSpc>
              <a:spcAft>
                <a:spcPts val="0"/>
              </a:spcAft>
            </a:pPr>
            <a:r>
              <a:rPr sz="4600" b="1" i="0">
                <a:solidFill>
                  <a:srgbClr val="00646D"/>
                </a:solidFill>
                <a:latin typeface="Georgia"/>
              </a:rPr>
              <a:t>101</a:t>
            </a:r>
          </a:p>
        </p:txBody>
      </p:sp>
      <p:sp>
        <p:nvSpPr>
          <p:cNvPr id="71" name="TextBox 70"/>
          <p:cNvSpPr txBox="1"/>
          <p:nvPr/>
        </p:nvSpPr>
        <p:spPr>
          <a:xfrm>
            <a:off x="16020288" y="6350254"/>
            <a:ext cx="2960370" cy="394462"/>
          </a:xfrm>
          <a:prstGeom prst="rect">
            <a:avLst/>
          </a:prstGeom>
          <a:noFill/>
        </p:spPr>
        <p:txBody>
          <a:bodyPr wrap="square" lIns="54864" tIns="54864" rIns="54864" bIns="54864" anchor="t"/>
          <a:lstStyle/>
          <a:p>
            <a:pPr algn="ctr">
              <a:lnSpc>
                <a:spcPts val="2242"/>
              </a:lnSpc>
              <a:spcAft>
                <a:spcPts val="0"/>
              </a:spcAft>
            </a:pPr>
            <a:r>
              <a:rPr sz="1900" b="0" i="0">
                <a:solidFill>
                  <a:srgbClr val="1D2023"/>
                </a:solidFill>
                <a:latin typeface="Arial"/>
              </a:rPr>
              <a:t>open datasets held</a:t>
            </a:r>
          </a:p>
        </p:txBody>
      </p:sp>
      <p:sp>
        <p:nvSpPr>
          <p:cNvPr id="72" name="Rounded Rectangle 71"/>
          <p:cNvSpPr/>
          <p:nvPr/>
        </p:nvSpPr>
        <p:spPr>
          <a:xfrm>
            <a:off x="19300698" y="5404104"/>
            <a:ext cx="3143250" cy="1762506"/>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19300698" y="5513832"/>
            <a:ext cx="3143250" cy="671830"/>
          </a:xfrm>
          <a:prstGeom prst="rect">
            <a:avLst/>
          </a:prstGeom>
          <a:noFill/>
        </p:spPr>
        <p:txBody>
          <a:bodyPr wrap="square" lIns="54864" tIns="54864" rIns="54864" bIns="54864" anchor="t"/>
          <a:lstStyle/>
          <a:p>
            <a:pPr algn="ctr">
              <a:lnSpc>
                <a:spcPts val="5427"/>
              </a:lnSpc>
              <a:spcAft>
                <a:spcPts val="0"/>
              </a:spcAft>
            </a:pPr>
            <a:r>
              <a:rPr sz="4600" b="1" i="0">
                <a:solidFill>
                  <a:srgbClr val="00646D"/>
                </a:solidFill>
                <a:latin typeface="Georgia"/>
              </a:rPr>
              <a:t>27</a:t>
            </a:r>
          </a:p>
        </p:txBody>
      </p:sp>
      <p:sp>
        <p:nvSpPr>
          <p:cNvPr id="74" name="TextBox 73"/>
          <p:cNvSpPr txBox="1"/>
          <p:nvPr/>
        </p:nvSpPr>
        <p:spPr>
          <a:xfrm>
            <a:off x="19392138" y="6350254"/>
            <a:ext cx="2960370" cy="394462"/>
          </a:xfrm>
          <a:prstGeom prst="rect">
            <a:avLst/>
          </a:prstGeom>
          <a:noFill/>
        </p:spPr>
        <p:txBody>
          <a:bodyPr wrap="square" lIns="54864" tIns="54864" rIns="54864" bIns="54864" anchor="t"/>
          <a:lstStyle/>
          <a:p>
            <a:pPr algn="ctr">
              <a:lnSpc>
                <a:spcPts val="2242"/>
              </a:lnSpc>
              <a:spcAft>
                <a:spcPts val="0"/>
              </a:spcAft>
            </a:pPr>
            <a:r>
              <a:rPr sz="1900" b="0" i="0">
                <a:solidFill>
                  <a:srgbClr val="1D2023"/>
                </a:solidFill>
                <a:latin typeface="Arial"/>
              </a:rPr>
              <a:t>of them Australian</a:t>
            </a:r>
          </a:p>
        </p:txBody>
      </p:sp>
      <p:sp>
        <p:nvSpPr>
          <p:cNvPr id="75" name="Rounded Rectangle 74"/>
          <p:cNvSpPr/>
          <p:nvPr/>
        </p:nvSpPr>
        <p:spPr>
          <a:xfrm>
            <a:off x="22672548" y="5404104"/>
            <a:ext cx="3143250" cy="1762506"/>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22672548" y="5513832"/>
            <a:ext cx="3143250" cy="671830"/>
          </a:xfrm>
          <a:prstGeom prst="rect">
            <a:avLst/>
          </a:prstGeom>
          <a:noFill/>
        </p:spPr>
        <p:txBody>
          <a:bodyPr wrap="square" lIns="54864" tIns="54864" rIns="54864" bIns="54864" anchor="t"/>
          <a:lstStyle/>
          <a:p>
            <a:pPr algn="ctr">
              <a:lnSpc>
                <a:spcPts val="5427"/>
              </a:lnSpc>
              <a:spcAft>
                <a:spcPts val="0"/>
              </a:spcAft>
            </a:pPr>
            <a:r>
              <a:rPr sz="4600" b="1" i="0">
                <a:solidFill>
                  <a:srgbClr val="00646D"/>
                </a:solidFill>
                <a:latin typeface="Georgia"/>
              </a:rPr>
              <a:t>55</a:t>
            </a:r>
          </a:p>
        </p:txBody>
      </p:sp>
      <p:sp>
        <p:nvSpPr>
          <p:cNvPr id="77" name="TextBox 76"/>
          <p:cNvSpPr txBox="1"/>
          <p:nvPr/>
        </p:nvSpPr>
        <p:spPr>
          <a:xfrm>
            <a:off x="22763988" y="6350254"/>
            <a:ext cx="2960370" cy="679196"/>
          </a:xfrm>
          <a:prstGeom prst="rect">
            <a:avLst/>
          </a:prstGeom>
          <a:noFill/>
        </p:spPr>
        <p:txBody>
          <a:bodyPr wrap="square" lIns="54864" tIns="54864" rIns="54864" bIns="54864" anchor="t"/>
          <a:lstStyle/>
          <a:p>
            <a:pPr algn="ctr">
              <a:lnSpc>
                <a:spcPts val="2242"/>
              </a:lnSpc>
              <a:spcAft>
                <a:spcPts val="0"/>
              </a:spcAft>
            </a:pPr>
            <a:r>
              <a:rPr sz="1900" b="0" i="0">
                <a:solidFill>
                  <a:srgbClr val="1D2023"/>
                </a:solidFill>
                <a:latin typeface="Arial"/>
              </a:rPr>
              <a:t>more listed, awaiting access</a:t>
            </a:r>
          </a:p>
        </p:txBody>
      </p:sp>
      <p:sp>
        <p:nvSpPr>
          <p:cNvPr id="78" name="Rounded Rectangle 77"/>
          <p:cNvSpPr/>
          <p:nvPr/>
        </p:nvSpPr>
        <p:spPr>
          <a:xfrm>
            <a:off x="26044398" y="5404104"/>
            <a:ext cx="3143250" cy="1762506"/>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TextBox 78"/>
          <p:cNvSpPr txBox="1"/>
          <p:nvPr/>
        </p:nvSpPr>
        <p:spPr>
          <a:xfrm>
            <a:off x="26044398" y="5513832"/>
            <a:ext cx="3143250" cy="671830"/>
          </a:xfrm>
          <a:prstGeom prst="rect">
            <a:avLst/>
          </a:prstGeom>
          <a:noFill/>
        </p:spPr>
        <p:txBody>
          <a:bodyPr wrap="square" lIns="54864" tIns="54864" rIns="54864" bIns="54864" anchor="t"/>
          <a:lstStyle/>
          <a:p>
            <a:pPr algn="ctr">
              <a:lnSpc>
                <a:spcPts val="5427"/>
              </a:lnSpc>
              <a:spcAft>
                <a:spcPts val="0"/>
              </a:spcAft>
            </a:pPr>
            <a:r>
              <a:rPr sz="4600" b="1" i="0">
                <a:solidFill>
                  <a:srgbClr val="00646D"/>
                </a:solidFill>
                <a:latin typeface="Georgia"/>
              </a:rPr>
              <a:t>8</a:t>
            </a:r>
          </a:p>
        </p:txBody>
      </p:sp>
      <p:sp>
        <p:nvSpPr>
          <p:cNvPr id="80" name="TextBox 79"/>
          <p:cNvSpPr txBox="1"/>
          <p:nvPr/>
        </p:nvSpPr>
        <p:spPr>
          <a:xfrm>
            <a:off x="26135838" y="6350254"/>
            <a:ext cx="2960370" cy="679196"/>
          </a:xfrm>
          <a:prstGeom prst="rect">
            <a:avLst/>
          </a:prstGeom>
          <a:noFill/>
        </p:spPr>
        <p:txBody>
          <a:bodyPr wrap="square" lIns="54864" tIns="54864" rIns="54864" bIns="54864" anchor="t"/>
          <a:lstStyle/>
          <a:p>
            <a:pPr algn="ctr">
              <a:lnSpc>
                <a:spcPts val="2242"/>
              </a:lnSpc>
              <a:spcAft>
                <a:spcPts val="0"/>
              </a:spcAft>
            </a:pPr>
            <a:r>
              <a:rPr sz="1900" b="0" i="0">
                <a:solidFill>
                  <a:srgbClr val="1D2023"/>
                </a:solidFill>
                <a:latin typeface="Arial"/>
              </a:rPr>
              <a:t>kinds of question it can match</a:t>
            </a:r>
          </a:p>
        </p:txBody>
      </p:sp>
      <p:sp>
        <p:nvSpPr>
          <p:cNvPr id="81" name="TextBox 80"/>
          <p:cNvSpPr txBox="1"/>
          <p:nvPr/>
        </p:nvSpPr>
        <p:spPr>
          <a:xfrm>
            <a:off x="15928847" y="7440930"/>
            <a:ext cx="13468541" cy="1488440"/>
          </a:xfrm>
          <a:prstGeom prst="rect">
            <a:avLst/>
          </a:prstGeom>
          <a:noFill/>
        </p:spPr>
        <p:txBody>
          <a:bodyPr wrap="square" lIns="54864" tIns="54864" rIns="54864" bIns="54864" anchor="t"/>
          <a:lstStyle/>
          <a:p>
            <a:pPr algn="l">
              <a:lnSpc>
                <a:spcPts val="2713"/>
              </a:lnSpc>
              <a:spcAft>
                <a:spcPts val="0"/>
              </a:spcAft>
            </a:pPr>
            <a:r>
              <a:rPr sz="2300" b="0" i="0" dirty="0">
                <a:solidFill>
                  <a:srgbClr val="1D2023"/>
                </a:solidFill>
                <a:latin typeface="Arial"/>
              </a:rPr>
              <a:t>Each dataset is stored with its source and license, formatted, and its columns and coverage are recorded at the time of enrolment. We can ask, for example, which datasets compare several nitrogen rates, and DataHub would present candidates. The study on this poster takes its barley price from DataHub's ABARES tables. Its trials are private GRDC data, so {masque} made a synthetic copy to build the analysis on, and the real rows stayed with their holder.</a:t>
            </a:r>
          </a:p>
        </p:txBody>
      </p:sp>
      <p:sp>
        <p:nvSpPr>
          <p:cNvPr id="82" name="Rounded Rectangle 81"/>
          <p:cNvSpPr/>
          <p:nvPr/>
        </p:nvSpPr>
        <p:spPr>
          <a:xfrm>
            <a:off x="15608808" y="9592056"/>
            <a:ext cx="13898880" cy="24168606"/>
          </a:xfrm>
          <a:prstGeom prst="roundRect">
            <a:avLst>
              <a:gd name="adj" fmla="val 16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Box 82"/>
          <p:cNvSpPr txBox="1"/>
          <p:nvPr/>
        </p:nvSpPr>
        <p:spPr>
          <a:xfrm>
            <a:off x="15928848" y="9682861"/>
            <a:ext cx="13258800" cy="777240"/>
          </a:xfrm>
          <a:prstGeom prst="rect">
            <a:avLst/>
          </a:prstGeom>
          <a:noFill/>
        </p:spPr>
        <p:txBody>
          <a:bodyPr wrap="square" lIns="54864" tIns="54864" rIns="54864" bIns="54864" anchor="ctr"/>
          <a:lstStyle/>
          <a:p>
            <a:pPr algn="l">
              <a:lnSpc>
                <a:spcPts val="4720"/>
              </a:lnSpc>
              <a:spcAft>
                <a:spcPts val="0"/>
              </a:spcAft>
            </a:pPr>
            <a:r>
              <a:rPr sz="4000" b="1" i="0" dirty="0">
                <a:solidFill>
                  <a:srgbClr val="00646D"/>
                </a:solidFill>
                <a:latin typeface="Georgia"/>
              </a:rPr>
              <a:t>How much nitrogen to topdress in June?</a:t>
            </a:r>
          </a:p>
        </p:txBody>
      </p:sp>
      <p:cxnSp>
        <p:nvCxnSpPr>
          <p:cNvPr id="84" name="Connector 83"/>
          <p:cNvCxnSpPr/>
          <p:nvPr/>
        </p:nvCxnSpPr>
        <p:spPr>
          <a:xfrm>
            <a:off x="15928848" y="10524109"/>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15928848" y="10825861"/>
            <a:ext cx="13258800" cy="1143762"/>
          </a:xfrm>
          <a:prstGeom prst="rect">
            <a:avLst/>
          </a:prstGeom>
          <a:noFill/>
        </p:spPr>
        <p:txBody>
          <a:bodyPr wrap="square" lIns="54864" tIns="54864" rIns="54864" bIns="54864" anchor="t"/>
          <a:lstStyle/>
          <a:p>
            <a:pPr algn="l">
              <a:lnSpc>
                <a:spcPts val="2713"/>
              </a:lnSpc>
              <a:spcAft>
                <a:spcPts val="0"/>
              </a:spcAft>
            </a:pPr>
            <a:r>
              <a:rPr lang="en-AU" sz="2300" b="0" i="0" dirty="0">
                <a:solidFill>
                  <a:srgbClr val="1D2023"/>
                </a:solidFill>
                <a:latin typeface="Arial"/>
              </a:rPr>
              <a:t>The GRDC Barley Synthesis trials tested nitrogen rates from 0 to 150 kg N/ha, topdressed as urea 4 to 6 weeks after sowing, at 48 sites and seasons from 2010 to 2016. At topdressing a grower knows the soil moisture, the rain so far and the soil's water-holding capacity, but not the rain to come.</a:t>
            </a:r>
            <a:endParaRPr sz="2300" b="0" i="0" dirty="0">
              <a:solidFill>
                <a:srgbClr val="1D2023"/>
              </a:solidFill>
              <a:latin typeface="Arial"/>
            </a:endParaRPr>
          </a:p>
        </p:txBody>
      </p:sp>
      <p:sp>
        <p:nvSpPr>
          <p:cNvPr id="86" name="TextBox 85"/>
          <p:cNvSpPr txBox="1"/>
          <p:nvPr/>
        </p:nvSpPr>
        <p:spPr>
          <a:xfrm>
            <a:off x="15955709" y="12061064"/>
            <a:ext cx="13258800" cy="4105514"/>
          </a:xfrm>
          <a:prstGeom prst="rect">
            <a:avLst/>
          </a:prstGeom>
          <a:noFill/>
        </p:spPr>
        <p:txBody>
          <a:bodyPr wrap="square" lIns="54864" tIns="54864" rIns="54864" bIns="54864" anchor="t"/>
          <a:lstStyle/>
          <a:p>
            <a:pPr algn="l">
              <a:lnSpc>
                <a:spcPts val="2713"/>
              </a:lnSpc>
              <a:spcAft>
                <a:spcPts val="1035"/>
              </a:spcAft>
            </a:pPr>
            <a:r>
              <a:rPr sz="2300" b="1" i="0" dirty="0">
                <a:solidFill>
                  <a:srgbClr val="1D2023"/>
                </a:solidFill>
                <a:latin typeface="Arial"/>
              </a:rPr>
              <a:t>1. Copy and rehearse.</a:t>
            </a:r>
            <a:r>
              <a:rPr sz="2300" b="0" i="0" dirty="0">
                <a:solidFill>
                  <a:srgbClr val="1D2023"/>
                </a:solidFill>
                <a:latin typeface="Arial"/>
              </a:rPr>
              <a:t> {masque} made a synthetic copy of the trials. The plan was written and rehearsed on it, with a known nitrogen response planted in the copy, then sealed before the real trials were touched.</a:t>
            </a:r>
          </a:p>
          <a:p>
            <a:pPr algn="l">
              <a:lnSpc>
                <a:spcPts val="2713"/>
              </a:lnSpc>
              <a:spcAft>
                <a:spcPts val="1035"/>
              </a:spcAft>
            </a:pPr>
            <a:r>
              <a:rPr sz="2300" b="1" i="0" dirty="0">
                <a:solidFill>
                  <a:srgbClr val="1D2023"/>
                </a:solidFill>
                <a:latin typeface="Arial"/>
              </a:rPr>
              <a:t>2. Two stages.</a:t>
            </a:r>
            <a:r>
              <a:rPr sz="2300" b="0" i="0" dirty="0">
                <a:solidFill>
                  <a:srgbClr val="1D2023"/>
                </a:solidFill>
                <a:latin typeface="Arial"/>
              </a:rPr>
              <a:t> Each trial is analysed on its own layout first. {flexyBayes} then fits one Bayesian response curve across the 48 trials, whose ceiling moves with soil water and rain.</a:t>
            </a:r>
          </a:p>
          <a:p>
            <a:pPr algn="l">
              <a:lnSpc>
                <a:spcPts val="2713"/>
              </a:lnSpc>
              <a:spcAft>
                <a:spcPts val="1035"/>
              </a:spcAft>
            </a:pPr>
            <a:r>
              <a:rPr sz="2300" b="1" i="0" dirty="0">
                <a:solidFill>
                  <a:srgbClr val="1D2023"/>
                </a:solidFill>
                <a:latin typeface="Arial"/>
              </a:rPr>
              <a:t>3. Decide.</a:t>
            </a:r>
            <a:r>
              <a:rPr sz="2300" b="0" i="0" dirty="0">
                <a:solidFill>
                  <a:srgbClr val="1D2023"/>
                </a:solidFill>
                <a:latin typeface="Arial"/>
              </a:rPr>
              <a:t> {decideR} turns the posterior into the most profitable rate for each soil moisture reading, the chance it pays, and a cautious rate that protects the worst fifth of seasons.</a:t>
            </a:r>
          </a:p>
          <a:p>
            <a:pPr algn="l">
              <a:lnSpc>
                <a:spcPts val="2713"/>
              </a:lnSpc>
              <a:spcAft>
                <a:spcPts val="1035"/>
              </a:spcAft>
            </a:pPr>
            <a:r>
              <a:rPr sz="2300" b="1" i="0" dirty="0">
                <a:solidFill>
                  <a:srgbClr val="1D2023"/>
                </a:solidFill>
                <a:latin typeface="Arial"/>
              </a:rPr>
              <a:t>4. Check.</a:t>
            </a:r>
            <a:r>
              <a:rPr sz="2300" b="0" i="0" dirty="0">
                <a:solidFill>
                  <a:srgbClr val="1D2023"/>
                </a:solidFill>
                <a:latin typeface="Arial"/>
              </a:rPr>
              <a:t> {koine} gives an independent second analysis and {quorum} checks that the analyses agree. Each rule is then scored on locations left out of the fit.</a:t>
            </a:r>
          </a:p>
        </p:txBody>
      </p:sp>
      <p:pic>
        <p:nvPicPr>
          <p:cNvPr id="105" name="Picture 104" descr="fig_Q3design.png"/>
          <p:cNvPicPr>
            <a:picLocks noChangeAspect="1"/>
          </p:cNvPicPr>
          <p:nvPr/>
        </p:nvPicPr>
        <p:blipFill>
          <a:blip r:embed="rId12"/>
          <a:stretch>
            <a:fillRect/>
          </a:stretch>
        </p:blipFill>
        <p:spPr>
          <a:xfrm>
            <a:off x="16321469" y="16131426"/>
            <a:ext cx="12618720" cy="4846320"/>
          </a:xfrm>
          <a:prstGeom prst="rect">
            <a:avLst/>
          </a:prstGeom>
        </p:spPr>
      </p:pic>
      <p:sp>
        <p:nvSpPr>
          <p:cNvPr id="88" name="TextBox 87"/>
          <p:cNvSpPr txBox="1"/>
          <p:nvPr/>
        </p:nvSpPr>
        <p:spPr>
          <a:xfrm>
            <a:off x="16246382" y="21106752"/>
            <a:ext cx="13258800" cy="2208661"/>
          </a:xfrm>
          <a:prstGeom prst="rect">
            <a:avLst/>
          </a:prstGeom>
          <a:noFill/>
        </p:spPr>
        <p:txBody>
          <a:bodyPr wrap="square" lIns="54864" tIns="54864" rIns="54864" bIns="54864" anchor="t"/>
          <a:lstStyle/>
          <a:p>
            <a:pPr>
              <a:lnSpc>
                <a:spcPts val="2360"/>
              </a:lnSpc>
            </a:pPr>
            <a:r>
              <a:rPr sz="2000" b="1" i="1" dirty="0">
                <a:solidFill>
                  <a:srgbClr val="50544D"/>
                </a:solidFill>
                <a:latin typeface="Arial"/>
              </a:rPr>
              <a:t>Left:</a:t>
            </a:r>
            <a:r>
              <a:rPr sz="2000" b="0" i="0" dirty="0">
                <a:solidFill>
                  <a:srgbClr val="50544D"/>
                </a:solidFill>
                <a:latin typeface="Arial"/>
              </a:rPr>
              <a:t> the causal graph (Hernán and Robins, 2020). Within a trial the nitrogen rates were randomised to plots, so only the site and season affect both the rate and the yield; holding the trial fixed is enough, as {dagitty} confirms (Textor et al., 2017). Soil water and rain change how much nitrogen pays, and do not confound it. </a:t>
            </a:r>
            <a:r>
              <a:rPr sz="2000" b="1" i="1" dirty="0">
                <a:solidFill>
                  <a:srgbClr val="50544D"/>
                </a:solidFill>
                <a:latin typeface="Arial"/>
              </a:rPr>
              <a:t>Right:</a:t>
            </a:r>
            <a:r>
              <a:rPr sz="2000" b="0" i="0" dirty="0">
                <a:solidFill>
                  <a:srgbClr val="50544D"/>
                </a:solidFill>
                <a:latin typeface="Arial"/>
              </a:rPr>
              <a:t> the rule for a new paddock, with barley at $314/t (ABARES, 2026-27 forecast) and nitrogen at its recorded cost, beside the planted best rate at three readings.</a:t>
            </a:r>
          </a:p>
        </p:txBody>
      </p:sp>
      <p:sp>
        <p:nvSpPr>
          <p:cNvPr id="89" name="Rounded Rectangle 88"/>
          <p:cNvSpPr/>
          <p:nvPr/>
        </p:nvSpPr>
        <p:spPr>
          <a:xfrm>
            <a:off x="16134588" y="23427940"/>
            <a:ext cx="13258800" cy="2902611"/>
          </a:xfrm>
          <a:prstGeom prst="roundRect">
            <a:avLst>
              <a:gd name="adj" fmla="val 6000"/>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TextBox 89"/>
          <p:cNvSpPr txBox="1"/>
          <p:nvPr/>
        </p:nvSpPr>
        <p:spPr>
          <a:xfrm>
            <a:off x="16321469" y="23618059"/>
            <a:ext cx="12893040" cy="2744496"/>
          </a:xfrm>
          <a:prstGeom prst="rect">
            <a:avLst/>
          </a:prstGeom>
          <a:noFill/>
        </p:spPr>
        <p:txBody>
          <a:bodyPr wrap="square" lIns="54864" tIns="54864" rIns="54864" bIns="54864" anchor="t"/>
          <a:lstStyle/>
          <a:p>
            <a:pPr>
              <a:lnSpc>
                <a:spcPts val="2713"/>
              </a:lnSpc>
            </a:pPr>
            <a:r>
              <a:rPr sz="2300" b="1" i="0" dirty="0">
                <a:solidFill>
                  <a:srgbClr val="1D2023"/>
                </a:solidFill>
                <a:latin typeface="Arial"/>
              </a:rPr>
              <a:t>In the rehearsal, with a known answer planted in the synthetic copy, the orchestra found it. Topdressing 90 kg N/ha added 2.05 t/ha (1.94 to 2.15) on the average trial, against the planted 2.07. The rule followed soil moisture as planted: no nitrogen on a dry reading, 100 kg N/ha on a middling one (planted best 110) and 150 kg on a wet one (planted 150). Where no response was planted, it said not to topdress, in 4 runs of 4.</a:t>
            </a:r>
            <a:endParaRPr sz="2300" b="1" i="0" dirty="0">
              <a:solidFill>
                <a:srgbClr val="1D2023"/>
              </a:solidFill>
              <a:latin typeface="Arial"/>
            </a:endParaRPr>
          </a:p>
          <a:p>
            <a:pPr>
              <a:lnSpc>
                <a:spcPts val="2713"/>
              </a:lnSpc>
            </a:pPr>
            <a:r>
              <a:rPr sz="2300" b="0" i="0" dirty="0">
                <a:solidFill>
                  <a:srgbClr val="1D2023"/>
                </a:solidFill>
                <a:latin typeface="Arial"/>
              </a:rPr>
              <a:t>These are rehearsal numbers: they show that the orchestra recovers a known answer, not what the real trials say.</a:t>
            </a:r>
            <a:endParaRPr sz="2300" b="1" i="0" dirty="0">
              <a:solidFill>
                <a:srgbClr val="1D2023"/>
              </a:solidFill>
              <a:latin typeface="Arial"/>
            </a:endParaRPr>
          </a:p>
        </p:txBody>
      </p:sp>
      <p:pic>
        <p:nvPicPr>
          <p:cNvPr id="106" name="Picture 105" descr="fig_Q3est.png"/>
          <p:cNvPicPr>
            <a:picLocks noChangeAspect="1"/>
          </p:cNvPicPr>
          <p:nvPr/>
        </p:nvPicPr>
        <p:blipFill>
          <a:blip r:embed="rId13"/>
          <a:stretch>
            <a:fillRect/>
          </a:stretch>
        </p:blipFill>
        <p:spPr>
          <a:xfrm>
            <a:off x="16248888" y="26472388"/>
            <a:ext cx="12618720" cy="2834640"/>
          </a:xfrm>
          <a:prstGeom prst="rect">
            <a:avLst/>
          </a:prstGeom>
        </p:spPr>
      </p:pic>
      <p:sp>
        <p:nvSpPr>
          <p:cNvPr id="92" name="TextBox 91"/>
          <p:cNvSpPr txBox="1"/>
          <p:nvPr/>
        </p:nvSpPr>
        <p:spPr>
          <a:xfrm>
            <a:off x="15955708" y="29915105"/>
            <a:ext cx="13258801" cy="3799839"/>
          </a:xfrm>
          <a:prstGeom prst="rect">
            <a:avLst/>
          </a:prstGeom>
          <a:noFill/>
        </p:spPr>
        <p:txBody>
          <a:bodyPr wrap="square" lIns="54864" tIns="54864" rIns="54864" bIns="54864" anchor="t"/>
          <a:lstStyle/>
          <a:p>
            <a:pPr marL="384048" indent="-384048">
              <a:lnSpc>
                <a:spcPts val="2713"/>
              </a:lnSpc>
              <a:spcAft>
                <a:spcPts val="1035"/>
              </a:spcAft>
              <a:buChar char="•"/>
            </a:pPr>
            <a:r>
              <a:rPr lang="en-AU" sz="2300" b="1" i="0" dirty="0">
                <a:solidFill>
                  <a:srgbClr val="1D2023"/>
                </a:solidFill>
                <a:latin typeface="Arial"/>
              </a:rPr>
              <a:t>What the Bayesian rule adds.</a:t>
            </a:r>
            <a:r>
              <a:rPr lang="en-AU" sz="2300" b="0" i="0" dirty="0">
                <a:solidFill>
                  <a:srgbClr val="1D2023"/>
                </a:solidFill>
                <a:latin typeface="Arial"/>
              </a:rPr>
              <a:t> Against the planted truth it left $18/ha on the table, against $26 for the usual plug-in rule and $59 for one flat rate; about $17 is lost whatever the rule, because the rain to come is unknown. Scored on locations left out of the fit, it was not clearly better than the plug-in rule, and the plan reports that as it stands.</a:t>
            </a:r>
          </a:p>
          <a:p>
            <a:pPr marL="384048" indent="-384048">
              <a:lnSpc>
                <a:spcPts val="2713"/>
              </a:lnSpc>
              <a:spcAft>
                <a:spcPts val="1035"/>
              </a:spcAft>
              <a:buChar char="•"/>
            </a:pPr>
            <a:r>
              <a:rPr lang="en-AU" sz="2300" b="1" i="0" dirty="0">
                <a:solidFill>
                  <a:srgbClr val="1D2023"/>
                </a:solidFill>
                <a:latin typeface="Arial"/>
              </a:rPr>
              <a:t>When the shape is wrong.</a:t>
            </a:r>
            <a:r>
              <a:rPr lang="en-AU" sz="2300" b="0" i="0" dirty="0">
                <a:solidFill>
                  <a:srgbClr val="1D2023"/>
                </a:solidFill>
                <a:latin typeface="Arial"/>
              </a:rPr>
              <a:t> With a sharp plateau at 50 kg planted, the rule chose 77 kg on average, and the plan flagged the plateau in 4 runs of 4.</a:t>
            </a:r>
          </a:p>
          <a:p>
            <a:pPr marL="384048" indent="-384048">
              <a:lnSpc>
                <a:spcPts val="2713"/>
              </a:lnSpc>
              <a:spcAft>
                <a:spcPts val="1035"/>
              </a:spcAft>
              <a:buChar char="•"/>
            </a:pPr>
            <a:r>
              <a:rPr lang="en-AU" sz="2300" b="1" i="0" dirty="0">
                <a:solidFill>
                  <a:srgbClr val="1D2023"/>
                </a:solidFill>
                <a:latin typeface="Arial"/>
              </a:rPr>
              <a:t>The real trials.</a:t>
            </a:r>
            <a:r>
              <a:rPr lang="en-AU" sz="2300" b="0" i="0" dirty="0">
                <a:solidFill>
                  <a:srgbClr val="1D2023"/>
                </a:solidFill>
                <a:latin typeface="Arial"/>
              </a:rPr>
              <a:t> The same sealed plan runs on the real trials at the data holder; its results follow consultation with GRDC.</a:t>
            </a:r>
          </a:p>
        </p:txBody>
      </p:sp>
      <p:sp>
        <p:nvSpPr>
          <p:cNvPr id="95" name="TextBox 94"/>
          <p:cNvSpPr txBox="1"/>
          <p:nvPr/>
        </p:nvSpPr>
        <p:spPr>
          <a:xfrm>
            <a:off x="16321469" y="29300168"/>
            <a:ext cx="13258800" cy="379476"/>
          </a:xfrm>
          <a:prstGeom prst="rect">
            <a:avLst/>
          </a:prstGeom>
          <a:noFill/>
        </p:spPr>
        <p:txBody>
          <a:bodyPr wrap="square" lIns="54864" tIns="54864" rIns="54864" bIns="54864" anchor="t"/>
          <a:lstStyle/>
          <a:p>
            <a:pPr algn="l">
              <a:lnSpc>
                <a:spcPts val="2124"/>
              </a:lnSpc>
              <a:spcAft>
                <a:spcPts val="0"/>
              </a:spcAft>
            </a:pPr>
            <a:r>
              <a:rPr sz="1800" b="0" i="0" dirty="0">
                <a:solidFill>
                  <a:srgbClr val="50544D"/>
                </a:solidFill>
                <a:latin typeface="Arial"/>
              </a:rPr>
              <a:t>Lines are 90% intervals. Right: the return lost against the planted best rate, mean of four rehearsal runs.</a:t>
            </a:r>
          </a:p>
        </p:txBody>
      </p:sp>
      <p:sp>
        <p:nvSpPr>
          <p:cNvPr id="96" name="Rounded Rectangle 95"/>
          <p:cNvSpPr/>
          <p:nvPr/>
        </p:nvSpPr>
        <p:spPr>
          <a:xfrm>
            <a:off x="15608808" y="33897822"/>
            <a:ext cx="13898880" cy="5375657"/>
          </a:xfrm>
          <a:prstGeom prst="roundRect">
            <a:avLst>
              <a:gd name="adj" fmla="val 399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7" name="TextBox 96"/>
          <p:cNvSpPr txBox="1"/>
          <p:nvPr/>
        </p:nvSpPr>
        <p:spPr>
          <a:xfrm>
            <a:off x="15928848" y="33989263"/>
            <a:ext cx="13258800" cy="777240"/>
          </a:xfrm>
          <a:prstGeom prst="rect">
            <a:avLst/>
          </a:prstGeom>
          <a:noFill/>
        </p:spPr>
        <p:txBody>
          <a:bodyPr wrap="square" lIns="54864" tIns="54864" rIns="54864" bIns="54864" anchor="ctr"/>
          <a:lstStyle/>
          <a:p>
            <a:pPr algn="l">
              <a:lnSpc>
                <a:spcPts val="4720"/>
              </a:lnSpc>
              <a:spcAft>
                <a:spcPts val="0"/>
              </a:spcAft>
            </a:pPr>
            <a:r>
              <a:rPr sz="4000" b="1" i="0">
                <a:solidFill>
                  <a:srgbClr val="00646D"/>
                </a:solidFill>
                <a:latin typeface="Georgia"/>
              </a:rPr>
              <a:t>Get it and explore</a:t>
            </a:r>
          </a:p>
        </p:txBody>
      </p:sp>
      <p:cxnSp>
        <p:nvCxnSpPr>
          <p:cNvPr id="98" name="Connector 97"/>
          <p:cNvCxnSpPr/>
          <p:nvPr/>
        </p:nvCxnSpPr>
        <p:spPr>
          <a:xfrm>
            <a:off x="15928848" y="34830511"/>
            <a:ext cx="13258800" cy="0"/>
          </a:xfrm>
          <a:prstGeom prst="line">
            <a:avLst/>
          </a:prstGeom>
          <a:ln w="28575">
            <a:solidFill>
              <a:srgbClr val="00808B"/>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5928848" y="35013390"/>
            <a:ext cx="13258800" cy="709168"/>
          </a:xfrm>
          <a:prstGeom prst="rect">
            <a:avLst/>
          </a:prstGeom>
          <a:noFill/>
        </p:spPr>
        <p:txBody>
          <a:bodyPr wrap="square" lIns="54864" tIns="54864" rIns="54864" bIns="54864" anchor="t"/>
          <a:lstStyle/>
          <a:p>
            <a:pPr algn="l">
              <a:lnSpc>
                <a:spcPts val="2360"/>
              </a:lnSpc>
              <a:spcAft>
                <a:spcPts val="0"/>
              </a:spcAft>
            </a:pPr>
            <a:r>
              <a:rPr sz="2000" b="0" i="0" dirty="0">
                <a:solidFill>
                  <a:srgbClr val="1D2023"/>
                </a:solidFill>
                <a:latin typeface="Arial"/>
              </a:rPr>
              <a:t>Sixteen packages are open source (MIT) on max578.r-universe.dev; {</a:t>
            </a:r>
            <a:r>
              <a:rPr sz="2000" b="0" i="0" dirty="0" err="1">
                <a:solidFill>
                  <a:srgbClr val="1D2023"/>
                </a:solidFill>
                <a:latin typeface="Arial"/>
              </a:rPr>
              <a:t>flexyBayes</a:t>
            </a:r>
            <a:r>
              <a:rPr sz="2000" b="0" i="0" dirty="0">
                <a:solidFill>
                  <a:srgbClr val="1D2023"/>
                </a:solidFill>
                <a:latin typeface="Arial"/>
              </a:rPr>
              <a:t>} and {quorum} are in development. Every package, with its role and links: max578.github.io/orchestra/members</a:t>
            </a:r>
            <a:r>
              <a:rPr lang="en-AU" sz="2000" b="0" i="0" dirty="0">
                <a:solidFill>
                  <a:srgbClr val="1D2023"/>
                </a:solidFill>
                <a:latin typeface="Arial"/>
              </a:rPr>
              <a:t>.</a:t>
            </a:r>
            <a:endParaRPr sz="2000" b="0" i="0" dirty="0">
              <a:solidFill>
                <a:srgbClr val="1D2023"/>
              </a:solidFill>
              <a:latin typeface="Arial"/>
            </a:endParaRPr>
          </a:p>
        </p:txBody>
      </p:sp>
      <p:sp>
        <p:nvSpPr>
          <p:cNvPr id="100" name="TextBox 99"/>
          <p:cNvSpPr txBox="1"/>
          <p:nvPr/>
        </p:nvSpPr>
        <p:spPr>
          <a:xfrm>
            <a:off x="15928848" y="35905439"/>
            <a:ext cx="13258800" cy="411480"/>
          </a:xfrm>
          <a:prstGeom prst="rect">
            <a:avLst/>
          </a:prstGeom>
          <a:noFill/>
        </p:spPr>
        <p:txBody>
          <a:bodyPr wrap="square" lIns="54864" tIns="54864" rIns="54864" bIns="54864" anchor="t"/>
          <a:lstStyle/>
          <a:p>
            <a:pPr algn="l">
              <a:lnSpc>
                <a:spcPts val="2360"/>
              </a:lnSpc>
              <a:spcAft>
                <a:spcPts val="0"/>
              </a:spcAft>
            </a:pPr>
            <a:r>
              <a:rPr sz="2000" b="1" i="0">
                <a:solidFill>
                  <a:srgbClr val="00646D"/>
                </a:solidFill>
                <a:latin typeface="Georgia"/>
              </a:rPr>
              <a:t>References</a:t>
            </a:r>
          </a:p>
        </p:txBody>
      </p:sp>
      <p:sp>
        <p:nvSpPr>
          <p:cNvPr id="101" name="TextBox 100"/>
          <p:cNvSpPr txBox="1"/>
          <p:nvPr/>
        </p:nvSpPr>
        <p:spPr>
          <a:xfrm>
            <a:off x="15928848" y="36362639"/>
            <a:ext cx="13258800" cy="2590801"/>
          </a:xfrm>
          <a:prstGeom prst="rect">
            <a:avLst/>
          </a:prstGeom>
          <a:noFill/>
        </p:spPr>
        <p:txBody>
          <a:bodyPr wrap="square" lIns="54864" tIns="54864" rIns="54864" bIns="54864" anchor="t"/>
          <a:lstStyle/>
          <a:p>
            <a:pPr algn="l">
              <a:lnSpc>
                <a:spcPts val="2124"/>
              </a:lnSpc>
              <a:spcAft>
                <a:spcPts val="810"/>
              </a:spcAft>
            </a:pPr>
            <a:r>
              <a:rPr sz="1800" b="0" i="0" dirty="0">
                <a:solidFill>
                  <a:srgbClr val="1D2023"/>
                </a:solidFill>
                <a:latin typeface="Arial"/>
              </a:rPr>
              <a:t>ABARES (2026). </a:t>
            </a:r>
            <a:r>
              <a:rPr sz="1800" b="0" i="1" dirty="0">
                <a:solidFill>
                  <a:srgbClr val="1D2023"/>
                </a:solidFill>
                <a:latin typeface="Arial"/>
              </a:rPr>
              <a:t>Agricultural commodities: September quarter 2026</a:t>
            </a:r>
            <a:r>
              <a:rPr sz="1800" b="0" i="0" dirty="0">
                <a:solidFill>
                  <a:srgbClr val="1D2023"/>
                </a:solidFill>
                <a:latin typeface="Arial"/>
              </a:rPr>
              <a:t>, statistical tables, Table 6. Australian Bureau of Agricultural and Resource Economics and Sciences.</a:t>
            </a:r>
          </a:p>
          <a:p>
            <a:pPr algn="l">
              <a:lnSpc>
                <a:spcPts val="2124"/>
              </a:lnSpc>
              <a:spcAft>
                <a:spcPts val="810"/>
              </a:spcAft>
            </a:pPr>
            <a:r>
              <a:rPr sz="1800" b="0" i="0" dirty="0">
                <a:solidFill>
                  <a:srgbClr val="1D2023"/>
                </a:solidFill>
                <a:latin typeface="Arial"/>
              </a:rPr>
              <a:t>Bürkner, P.-C. (2017). brms: An R package for Bayesian multilevel models using Stan. </a:t>
            </a:r>
            <a:r>
              <a:rPr sz="1800" b="0" i="1" dirty="0">
                <a:solidFill>
                  <a:srgbClr val="1D2023"/>
                </a:solidFill>
                <a:latin typeface="Arial"/>
              </a:rPr>
              <a:t>Journal of Statistical Software, 80</a:t>
            </a:r>
            <a:r>
              <a:rPr sz="1800" b="0" i="0" dirty="0">
                <a:solidFill>
                  <a:srgbClr val="1D2023"/>
                </a:solidFill>
                <a:latin typeface="Arial"/>
              </a:rPr>
              <a:t>(1). https://doi.org/10.18637/jss.v080.i01</a:t>
            </a:r>
          </a:p>
          <a:p>
            <a:pPr algn="l">
              <a:lnSpc>
                <a:spcPts val="2124"/>
              </a:lnSpc>
              <a:spcAft>
                <a:spcPts val="810"/>
              </a:spcAft>
            </a:pPr>
            <a:r>
              <a:rPr sz="1800" b="0" i="0" dirty="0">
                <a:solidFill>
                  <a:srgbClr val="1D2023"/>
                </a:solidFill>
                <a:latin typeface="Arial"/>
              </a:rPr>
              <a:t>Hernán, M. A., &amp; Robins, J. M. (2020). </a:t>
            </a:r>
            <a:r>
              <a:rPr sz="1800" b="0" i="1" dirty="0">
                <a:solidFill>
                  <a:srgbClr val="1D2023"/>
                </a:solidFill>
                <a:latin typeface="Arial"/>
              </a:rPr>
              <a:t>Causal inference: What if.</a:t>
            </a:r>
            <a:r>
              <a:rPr sz="1800" b="0" i="0" dirty="0">
                <a:solidFill>
                  <a:srgbClr val="1D2023"/>
                </a:solidFill>
                <a:latin typeface="Arial"/>
              </a:rPr>
              <a:t> Chapman &amp; Hall/CRC.</a:t>
            </a:r>
          </a:p>
          <a:p>
            <a:pPr algn="l">
              <a:lnSpc>
                <a:spcPts val="2124"/>
              </a:lnSpc>
              <a:spcAft>
                <a:spcPts val="810"/>
              </a:spcAft>
            </a:pPr>
            <a:r>
              <a:rPr sz="1800" b="0" i="0" dirty="0">
                <a:solidFill>
                  <a:srgbClr val="1D2023"/>
                </a:solidFill>
                <a:latin typeface="Arial"/>
              </a:rPr>
              <a:t>Textor, J., van der Zander, B., Gilthorpe, M. S., Liśkiewicz, M., &amp; Ellison, G. T. H. (2017). Robust causal inference using directed acyclic graphs: The R package 'dagitty'. </a:t>
            </a:r>
            <a:r>
              <a:rPr sz="1800" b="0" i="1" dirty="0">
                <a:solidFill>
                  <a:srgbClr val="1D2023"/>
                </a:solidFill>
                <a:latin typeface="Arial"/>
              </a:rPr>
              <a:t>International Journal of Epidemiology</a:t>
            </a:r>
            <a:r>
              <a:rPr sz="1800" b="0" i="0" dirty="0">
                <a:solidFill>
                  <a:srgbClr val="1D2023"/>
                </a:solidFill>
                <a:latin typeface="Arial"/>
              </a:rPr>
              <a:t>. https://doi.org/10.1093/ije/dyw341</a:t>
            </a:r>
          </a:p>
        </p:txBody>
      </p:sp>
    </p:spTree>
    <p:extLst>
      <p:ext uri="{BB962C8B-B14F-4D97-AF65-F5344CB8AC3E}">
        <p14:creationId xmlns:p14="http://schemas.microsoft.com/office/powerpoint/2010/main" val="4528251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17115</TotalTime>
  <Words>1803</Words>
  <Application>Microsoft Macintosh PowerPoint</Application>
  <PresentationFormat>Custom</PresentationFormat>
  <Paragraphs>69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Georgia</vt:lpstr>
      <vt:lpstr>Menlo</vt:lpstr>
      <vt:lpstr>Proxima Nova Medium</vt:lpstr>
      <vt:lpstr>Office Theme</vt:lpstr>
      <vt:lpstr>PowerPoint Presentation</vt:lpstr>
    </vt:vector>
  </TitlesOfParts>
  <Company>The University of Adelaide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AAGI Poster Template</dc:title>
  <dc:creator>AAGI</dc:creator>
  <cp:lastModifiedBy>Max Moldovan</cp:lastModifiedBy>
  <cp:revision>61</cp:revision>
  <dcterms:created xsi:type="dcterms:W3CDTF">2026-08-06T03:30:43Z</dcterms:created>
  <dcterms:modified xsi:type="dcterms:W3CDTF">2026-10-26T01:40:43Z</dcterms:modified>
</cp:coreProperties>
</file>